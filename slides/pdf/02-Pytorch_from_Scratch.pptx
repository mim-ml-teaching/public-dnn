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4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304" r:id="rId8"/>
    <p:sldId id="262" r:id="rId9"/>
    <p:sldId id="306" r:id="rId10"/>
    <p:sldId id="307" r:id="rId11"/>
    <p:sldId id="270" r:id="rId12"/>
    <p:sldId id="271" r:id="rId13"/>
    <p:sldId id="308" r:id="rId14"/>
    <p:sldId id="275" r:id="rId15"/>
    <p:sldId id="309" r:id="rId16"/>
    <p:sldId id="276" r:id="rId17"/>
    <p:sldId id="278" r:id="rId18"/>
    <p:sldId id="281" r:id="rId19"/>
    <p:sldId id="283" r:id="rId20"/>
    <p:sldId id="290" r:id="rId21"/>
    <p:sldId id="310" r:id="rId22"/>
    <p:sldId id="311" r:id="rId23"/>
    <p:sldId id="312" r:id="rId24"/>
    <p:sldId id="313" r:id="rId25"/>
    <p:sldId id="317" r:id="rId26"/>
    <p:sldId id="316" r:id="rId27"/>
    <p:sldId id="319" r:id="rId28"/>
    <p:sldId id="320" r:id="rId29"/>
    <p:sldId id="322" r:id="rId30"/>
    <p:sldId id="328" r:id="rId31"/>
    <p:sldId id="327" r:id="rId32"/>
    <p:sldId id="329" r:id="rId33"/>
    <p:sldId id="325" r:id="rId34"/>
    <p:sldId id="323" r:id="rId35"/>
  </p:sldIdLst>
  <p:sldSz cx="12192000" cy="6858000"/>
  <p:notesSz cx="6858000" cy="9144000"/>
  <p:embeddedFontLst>
    <p:embeddedFont>
      <p:font typeface="Cambria Math" panose="02040503050406030204" pitchFamily="18" charset="0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iWVKQ9nExubiVVnSNmiDuAFGrB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52"/>
  </p:normalViewPr>
  <p:slideViewPr>
    <p:cSldViewPr snapToGrid="0">
      <p:cViewPr>
        <p:scale>
          <a:sx n="127" d="100"/>
          <a:sy n="127" d="100"/>
        </p:scale>
        <p:origin x="184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59" Type="http://customschemas.google.com/relationships/presentationmetadata" Target="meta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8:42.6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80 24575,'10'0'0,"13"0"0,20 0 0,19 0 0,9 0 0,3 0 0,-3 0 0,5 0 0,6 0 0,2 0 0,-6 0 0,-7 0 0,-4 0 0,-6 0 0,-6 0 0,-4 0 0,-5 0 0,1 0 0,20 0 0,-20 0 0,18 0 0,-24 0 0,5 0 0,0 0 0,1-4 0,-3-2 0,0-1 0,-4 1 0,-4 5 0,0 0 0,-4 1 0,-3 0 0,-2-1 0,-3 1 0,-2 0 0,-2 0 0,0 0 0,-2 0 0,2-1 0,0 1 0,0-2 0,7-2 0,0 1 0,1-2 0,-2 2 0,-3-1 0,3 2 0,-1 2 0,1-2 0,0-1 0,3 0 0,7 0 0,4-1 0,8 1 0,3-1 0,3 0 0,-1 4 0,-1-1 0,-3 1 0,-4 0 0,2-1 0,-6 1 0,-3 0 0,-6 0 0,-6 0 0,-4 0 0,-4 0 0,-4-1 0,-3 1 0,-1 0 0,0 0 0,-1 0 0,0 0 0,0 0 0,3 0 0,1 0 0,1 0 0,1 0 0,-1 0 0,1 0 0,-2 0 0,-1 0 0,-3 2 0,-3 2 0,-3 4 0,-2 2 0,-1 0 0,0 0 0,0 1 0,0-1 0,0 1 0,0-1 0,-3 0 0,-1-2 0,-4-3 0,-1-3 0,-1-2 0,1 0 0,-1 0 0,2-2 0,1-1 0,-1 0 0,0 1 0,3 2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8:48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24575,'-6'0'0,"1"0"0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8:54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24575,'-3'0'0,"1"0"0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3:40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8191,'13'6'0,"-3"-1"0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a6a5353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ba6a5353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a26f61f4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g3fba26f61f4_0_35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PL" sz="1100" b="1" i="1" u="none" strike="noStrike" cap="none" spc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"Each branch builds strictly on the previous one. Checkout the branch to follow the lecture live."</a:t>
            </a:r>
            <a:endParaRPr lang="en-PL" sz="1100" b="0" i="1" u="none" strike="noStrike" cap="none" spc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br>
              <a:rPr lang="en-PL"/>
            </a:br>
            <a:endParaRPr/>
          </a:p>
        </p:txBody>
      </p:sp>
      <p:sp>
        <p:nvSpPr>
          <p:cNvPr id="147" name="Google Shape;147;g3fba26f61f4_0_35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16925D26-F531-E82D-6400-5E67ABCF8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>
            <a:extLst>
              <a:ext uri="{FF2B5EF4-FFF2-40B4-BE49-F238E27FC236}">
                <a16:creationId xmlns:a16="http://schemas.microsoft.com/office/drawing/2014/main" id="{955CAF02-5378-384F-14BE-7D8DE0CE6F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68BFA76A-1E42-67D4-C51A-343472A4C8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E5EBF565-0FBF-0BDE-0A39-5A1E1FE43E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72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0F9534FC-1AFB-740D-BF88-E1F25EC85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>
            <a:extLst>
              <a:ext uri="{FF2B5EF4-FFF2-40B4-BE49-F238E27FC236}">
                <a16:creationId xmlns:a16="http://schemas.microsoft.com/office/drawing/2014/main" id="{3E49A010-AFF1-AAF8-D2B8-4E887744C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2:notes">
            <a:extLst>
              <a:ext uri="{FF2B5EF4-FFF2-40B4-BE49-F238E27FC236}">
                <a16:creationId xmlns:a16="http://schemas.microsoft.com/office/drawing/2014/main" id="{6E9B3A97-A439-2076-8652-0DE40DA7E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:notes">
            <a:extLst>
              <a:ext uri="{FF2B5EF4-FFF2-40B4-BE49-F238E27FC236}">
                <a16:creationId xmlns:a16="http://schemas.microsoft.com/office/drawing/2014/main" id="{74C35963-78C8-6D8E-BA78-B0884D0934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860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53079915-1AA8-0770-BB5F-A5657250E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>
            <a:extLst>
              <a:ext uri="{FF2B5EF4-FFF2-40B4-BE49-F238E27FC236}">
                <a16:creationId xmlns:a16="http://schemas.microsoft.com/office/drawing/2014/main" id="{6328DB29-8E2C-F214-D14B-F502D8E1F2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2:notes">
            <a:extLst>
              <a:ext uri="{FF2B5EF4-FFF2-40B4-BE49-F238E27FC236}">
                <a16:creationId xmlns:a16="http://schemas.microsoft.com/office/drawing/2014/main" id="{66219643-B21F-A4B5-7F34-31AE0D0BF1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:notes">
            <a:extLst>
              <a:ext uri="{FF2B5EF4-FFF2-40B4-BE49-F238E27FC236}">
                <a16:creationId xmlns:a16="http://schemas.microsoft.com/office/drawing/2014/main" id="{5531B75B-8823-A24C-9339-11B49DFC8A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5091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57A732FA-9046-85E1-23BB-30347E4F3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>
            <a:extLst>
              <a:ext uri="{FF2B5EF4-FFF2-40B4-BE49-F238E27FC236}">
                <a16:creationId xmlns:a16="http://schemas.microsoft.com/office/drawing/2014/main" id="{BA868B56-17A4-CC26-C8E7-599EF46A9C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DFF48BB0-25BA-DBF9-85B2-BE45AF0F27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9E41BFDC-5491-591D-AF7F-2F6DE3BA4D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6093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>
          <a:extLst>
            <a:ext uri="{FF2B5EF4-FFF2-40B4-BE49-F238E27FC236}">
              <a16:creationId xmlns:a16="http://schemas.microsoft.com/office/drawing/2014/main" id="{AAD657D9-54EC-83F6-BD3A-2DE75049E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4:notes">
            <a:extLst>
              <a:ext uri="{FF2B5EF4-FFF2-40B4-BE49-F238E27FC236}">
                <a16:creationId xmlns:a16="http://schemas.microsoft.com/office/drawing/2014/main" id="{CCBFF3DF-45CF-F19D-FAAE-B24CAD65B3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p24:notes">
            <a:extLst>
              <a:ext uri="{FF2B5EF4-FFF2-40B4-BE49-F238E27FC236}">
                <a16:creationId xmlns:a16="http://schemas.microsoft.com/office/drawing/2014/main" id="{34AA30A3-B1BD-14D9-D192-43B8721E9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4:notes">
            <a:extLst>
              <a:ext uri="{FF2B5EF4-FFF2-40B4-BE49-F238E27FC236}">
                <a16:creationId xmlns:a16="http://schemas.microsoft.com/office/drawing/2014/main" id="{63D14CF4-BE1D-BE03-5AC7-3713547159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45418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2" name="Google Shape;552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1" name="Google Shape;621;p3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8" name="Google Shape;658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1" name="Google Shape;801;p3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794D6703-A47C-8B01-D02C-38FB90550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>
            <a:extLst>
              <a:ext uri="{FF2B5EF4-FFF2-40B4-BE49-F238E27FC236}">
                <a16:creationId xmlns:a16="http://schemas.microsoft.com/office/drawing/2014/main" id="{F54698DB-42A7-2958-C61D-B32F4FA54D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22424CDF-5710-2D57-EE6E-34E9767BFD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BA4E9A8B-4CD0-7369-AB03-67424832C3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0761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8ABF4AE8-879C-35CA-1E85-DF6ECC7B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5:notes">
            <a:extLst>
              <a:ext uri="{FF2B5EF4-FFF2-40B4-BE49-F238E27FC236}">
                <a16:creationId xmlns:a16="http://schemas.microsoft.com/office/drawing/2014/main" id="{68225E67-F95E-024C-CE6F-23D94C6EF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6" name="Google Shape;906;p45:notes">
            <a:extLst>
              <a:ext uri="{FF2B5EF4-FFF2-40B4-BE49-F238E27FC236}">
                <a16:creationId xmlns:a16="http://schemas.microsoft.com/office/drawing/2014/main" id="{6BBDA380-A34C-8113-53B3-3341E0990E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45:notes">
            <a:extLst>
              <a:ext uri="{FF2B5EF4-FFF2-40B4-BE49-F238E27FC236}">
                <a16:creationId xmlns:a16="http://schemas.microsoft.com/office/drawing/2014/main" id="{6E5E091F-0FE3-B412-EAA0-9B7EC9C53E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02265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67A39D73-DA11-1D67-3E1E-13F4276CA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5:notes">
            <a:extLst>
              <a:ext uri="{FF2B5EF4-FFF2-40B4-BE49-F238E27FC236}">
                <a16:creationId xmlns:a16="http://schemas.microsoft.com/office/drawing/2014/main" id="{8C87CBEA-91A8-5F1F-57B8-E085E0F51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6" name="Google Shape;906;p45:notes">
            <a:extLst>
              <a:ext uri="{FF2B5EF4-FFF2-40B4-BE49-F238E27FC236}">
                <a16:creationId xmlns:a16="http://schemas.microsoft.com/office/drawing/2014/main" id="{61AF574A-1C96-7861-7A36-924F796314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45:notes">
            <a:extLst>
              <a:ext uri="{FF2B5EF4-FFF2-40B4-BE49-F238E27FC236}">
                <a16:creationId xmlns:a16="http://schemas.microsoft.com/office/drawing/2014/main" id="{929D267A-9F70-D1B2-505D-5401C460CC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1537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20561636-18C8-43F0-D506-239554126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5:notes">
            <a:extLst>
              <a:ext uri="{FF2B5EF4-FFF2-40B4-BE49-F238E27FC236}">
                <a16:creationId xmlns:a16="http://schemas.microsoft.com/office/drawing/2014/main" id="{B7F8A936-EAD2-CE98-69D0-D5FBB2CF56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6" name="Google Shape;906;p45:notes">
            <a:extLst>
              <a:ext uri="{FF2B5EF4-FFF2-40B4-BE49-F238E27FC236}">
                <a16:creationId xmlns:a16="http://schemas.microsoft.com/office/drawing/2014/main" id="{8AA36FD7-4EA3-BF6A-ED02-596BA25F59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45:notes">
            <a:extLst>
              <a:ext uri="{FF2B5EF4-FFF2-40B4-BE49-F238E27FC236}">
                <a16:creationId xmlns:a16="http://schemas.microsoft.com/office/drawing/2014/main" id="{1F29DFB4-3C69-F8F5-2E40-0AFA195FB8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0604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E6826469-4E05-E3B3-0A19-E32FF300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5:notes">
            <a:extLst>
              <a:ext uri="{FF2B5EF4-FFF2-40B4-BE49-F238E27FC236}">
                <a16:creationId xmlns:a16="http://schemas.microsoft.com/office/drawing/2014/main" id="{47A8458F-AFCA-B8E9-79C5-753A46C448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6" name="Google Shape;906;p45:notes">
            <a:extLst>
              <a:ext uri="{FF2B5EF4-FFF2-40B4-BE49-F238E27FC236}">
                <a16:creationId xmlns:a16="http://schemas.microsoft.com/office/drawing/2014/main" id="{F61FA298-A799-0079-9542-496FC918E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45:notes">
            <a:extLst>
              <a:ext uri="{FF2B5EF4-FFF2-40B4-BE49-F238E27FC236}">
                <a16:creationId xmlns:a16="http://schemas.microsoft.com/office/drawing/2014/main" id="{4A344221-34FA-36A8-1EC9-DE84BFCE17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15271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25FD7995-921B-AF06-EFE8-8BF24A15C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5:notes">
            <a:extLst>
              <a:ext uri="{FF2B5EF4-FFF2-40B4-BE49-F238E27FC236}">
                <a16:creationId xmlns:a16="http://schemas.microsoft.com/office/drawing/2014/main" id="{8861BDAB-CA71-DFF7-BA9E-43E3603856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6" name="Google Shape;906;p45:notes">
            <a:extLst>
              <a:ext uri="{FF2B5EF4-FFF2-40B4-BE49-F238E27FC236}">
                <a16:creationId xmlns:a16="http://schemas.microsoft.com/office/drawing/2014/main" id="{FCDDBA1D-D357-F43A-89C9-9789789AD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45:notes">
            <a:extLst>
              <a:ext uri="{FF2B5EF4-FFF2-40B4-BE49-F238E27FC236}">
                <a16:creationId xmlns:a16="http://schemas.microsoft.com/office/drawing/2014/main" id="{D2EF10D0-EECF-41DA-5C3D-0B3E0FF182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4815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89047914-8ED3-9AB4-0249-369F7BE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>
            <a:extLst>
              <a:ext uri="{FF2B5EF4-FFF2-40B4-BE49-F238E27FC236}">
                <a16:creationId xmlns:a16="http://schemas.microsoft.com/office/drawing/2014/main" id="{643F454E-E793-EC5F-1738-035FEE380C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5DC46FA4-D307-E515-53C7-F61AC9745F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28500D83-9C52-BE63-4243-1FFE94A9D7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00956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5EDA52F9-9BBF-3408-F090-5602701AA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5:notes">
            <a:extLst>
              <a:ext uri="{FF2B5EF4-FFF2-40B4-BE49-F238E27FC236}">
                <a16:creationId xmlns:a16="http://schemas.microsoft.com/office/drawing/2014/main" id="{600D6F52-D0D2-9513-0D06-B7D9597908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6" name="Google Shape;906;p45:notes">
            <a:extLst>
              <a:ext uri="{FF2B5EF4-FFF2-40B4-BE49-F238E27FC236}">
                <a16:creationId xmlns:a16="http://schemas.microsoft.com/office/drawing/2014/main" id="{3F7640BA-92F4-76C6-D3D9-44D11E435A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45:notes">
            <a:extLst>
              <a:ext uri="{FF2B5EF4-FFF2-40B4-BE49-F238E27FC236}">
                <a16:creationId xmlns:a16="http://schemas.microsoft.com/office/drawing/2014/main" id="{33D2037D-D3FF-AD89-A54F-BAF6115B44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39327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B94E5F0D-67B0-1033-28F6-CFB4FFF41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>
            <a:extLst>
              <a:ext uri="{FF2B5EF4-FFF2-40B4-BE49-F238E27FC236}">
                <a16:creationId xmlns:a16="http://schemas.microsoft.com/office/drawing/2014/main" id="{08B5A6F5-1163-ABDD-FE6D-2ACAE588AA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2:notes">
            <a:extLst>
              <a:ext uri="{FF2B5EF4-FFF2-40B4-BE49-F238E27FC236}">
                <a16:creationId xmlns:a16="http://schemas.microsoft.com/office/drawing/2014/main" id="{A478FE9D-15EE-0472-B7B2-A2893D46AB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:notes">
            <a:extLst>
              <a:ext uri="{FF2B5EF4-FFF2-40B4-BE49-F238E27FC236}">
                <a16:creationId xmlns:a16="http://schemas.microsoft.com/office/drawing/2014/main" id="{4F23EBF1-7D1E-FDC4-A9A5-E4F464AF58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65829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461B05BB-CD0A-F9F6-A21C-8852ECEEA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>
            <a:extLst>
              <a:ext uri="{FF2B5EF4-FFF2-40B4-BE49-F238E27FC236}">
                <a16:creationId xmlns:a16="http://schemas.microsoft.com/office/drawing/2014/main" id="{BD899051-3616-1C54-02A1-2C673ACFCC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2:notes">
            <a:extLst>
              <a:ext uri="{FF2B5EF4-FFF2-40B4-BE49-F238E27FC236}">
                <a16:creationId xmlns:a16="http://schemas.microsoft.com/office/drawing/2014/main" id="{02A42C26-B556-60D3-475B-14CF971D3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:notes">
            <a:extLst>
              <a:ext uri="{FF2B5EF4-FFF2-40B4-BE49-F238E27FC236}">
                <a16:creationId xmlns:a16="http://schemas.microsoft.com/office/drawing/2014/main" id="{D17E86B0-D504-7805-606D-17FC43EDA9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59591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A49F48D6-BE5D-7BAD-1A4C-8AB0DEA42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>
            <a:extLst>
              <a:ext uri="{FF2B5EF4-FFF2-40B4-BE49-F238E27FC236}">
                <a16:creationId xmlns:a16="http://schemas.microsoft.com/office/drawing/2014/main" id="{9579BD06-9521-7F75-3773-9E6C70F0B3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1AF8733B-E6A3-1938-67FB-A35E8638D4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BF3FC5CC-F8AE-9DD2-7A85-2B528363AD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42506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64CB0536-895F-F853-8A0E-98F2BBE6C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>
            <a:extLst>
              <a:ext uri="{FF2B5EF4-FFF2-40B4-BE49-F238E27FC236}">
                <a16:creationId xmlns:a16="http://schemas.microsoft.com/office/drawing/2014/main" id="{A9ED07D6-9212-4499-2B37-A7A02B5203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2:notes">
            <a:extLst>
              <a:ext uri="{FF2B5EF4-FFF2-40B4-BE49-F238E27FC236}">
                <a16:creationId xmlns:a16="http://schemas.microsoft.com/office/drawing/2014/main" id="{AAC64FAD-0867-CAEC-A9CB-2CC125068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B33B8B1A-1F6C-C66F-FEEF-DF82F86EE0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3385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hyperlink" Target="https://mml-book.github.io/book/mml-book.pdf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customXml" Target="../ink/ink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inyurl.com/mimuw-dnn-feedbac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/>
        </p:nvSpPr>
        <p:spPr>
          <a:xfrm>
            <a:off x="685800" y="123444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</a:rPr>
              <a:t>Let’s build our own PyTorch</a:t>
            </a:r>
            <a:br>
              <a:rPr lang="en-US" sz="4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4200" b="1">
                <a:solidFill>
                  <a:srgbClr val="FFFFFF"/>
                </a:solidFill>
              </a:rPr>
              <a:t>s</a:t>
            </a:r>
            <a:r>
              <a:rPr lang="en-US" sz="4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cratch! 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550925" y="3040380"/>
            <a:ext cx="7638333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0DBE9"/>
                </a:solidFill>
              </a:rPr>
              <a:t>Let’s see how d</a:t>
            </a:r>
            <a:r>
              <a:rPr lang="en-US" sz="2300" b="0" i="0" u="none" strike="noStrike" cap="none">
                <a:solidFill>
                  <a:srgbClr val="D0DBE9"/>
                </a:solidFill>
                <a:latin typeface="Arial"/>
                <a:ea typeface="Arial"/>
                <a:cs typeface="Arial"/>
                <a:sym typeface="Arial"/>
              </a:rPr>
              <a:t>eep learning</a:t>
            </a:r>
            <a:r>
              <a:rPr lang="en-US" sz="2300">
                <a:solidFill>
                  <a:srgbClr val="D0DBE9"/>
                </a:solidFill>
              </a:rPr>
              <a:t>  </a:t>
            </a:r>
            <a:r>
              <a:rPr lang="en-US" sz="2300" b="0" i="0" u="none" strike="noStrike" cap="none">
                <a:solidFill>
                  <a:srgbClr val="D0DBE9"/>
                </a:solidFill>
                <a:latin typeface="Arial"/>
                <a:ea typeface="Arial"/>
                <a:cs typeface="Arial"/>
                <a:sym typeface="Arial"/>
              </a:rPr>
              <a:t>actually works under the hood!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713232" y="4069080"/>
            <a:ext cx="6217920" cy="566928"/>
          </a:xfrm>
          <a:prstGeom prst="roundRect">
            <a:avLst>
              <a:gd name="adj" fmla="val 16667"/>
            </a:avLst>
          </a:prstGeom>
          <a:solidFill>
            <a:srgbClr val="172338"/>
          </a:solidFill>
          <a:ln w="9525" cap="flat" cmpd="sng">
            <a:solidFill>
              <a:srgbClr val="17233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877824" y="4160520"/>
            <a:ext cx="58887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calculus → graph → backprop → neural network</a:t>
            </a:r>
            <a:endParaRPr/>
          </a:p>
        </p:txBody>
      </p:sp>
      <p:cxnSp>
        <p:nvCxnSpPr>
          <p:cNvPr id="101" name="Google Shape;101;p1"/>
          <p:cNvCxnSpPr/>
          <p:nvPr/>
        </p:nvCxnSpPr>
        <p:spPr>
          <a:xfrm>
            <a:off x="8755380" y="2171700"/>
            <a:ext cx="731520" cy="1143000"/>
          </a:xfrm>
          <a:prstGeom prst="straightConnector1">
            <a:avLst/>
          </a:prstGeom>
          <a:noFill/>
          <a:ln w="20300" cap="flat" cmpd="sng">
            <a:solidFill>
              <a:srgbClr val="96A1B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02" name="Google Shape;102;p1"/>
          <p:cNvCxnSpPr/>
          <p:nvPr/>
        </p:nvCxnSpPr>
        <p:spPr>
          <a:xfrm flipH="1">
            <a:off x="9486900" y="2171700"/>
            <a:ext cx="731520" cy="1143000"/>
          </a:xfrm>
          <a:prstGeom prst="straightConnector1">
            <a:avLst/>
          </a:prstGeom>
          <a:noFill/>
          <a:ln w="20300" cap="flat" cmpd="sng">
            <a:solidFill>
              <a:srgbClr val="96A1B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03" name="Google Shape;103;p1"/>
          <p:cNvCxnSpPr/>
          <p:nvPr/>
        </p:nvCxnSpPr>
        <p:spPr>
          <a:xfrm>
            <a:off x="9486900" y="3314700"/>
            <a:ext cx="0" cy="1280160"/>
          </a:xfrm>
          <a:prstGeom prst="straightConnector1">
            <a:avLst/>
          </a:prstGeom>
          <a:noFill/>
          <a:ln w="20300" cap="flat" cmpd="sng">
            <a:solidFill>
              <a:srgbClr val="96A1B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04" name="Google Shape;104;p1"/>
          <p:cNvSpPr/>
          <p:nvPr/>
        </p:nvSpPr>
        <p:spPr>
          <a:xfrm>
            <a:off x="8412480" y="1828800"/>
            <a:ext cx="685800" cy="685800"/>
          </a:xfrm>
          <a:prstGeom prst="ellipse">
            <a:avLst/>
          </a:prstGeom>
          <a:solidFill>
            <a:srgbClr val="4775D6"/>
          </a:solidFill>
          <a:ln w="9525" cap="flat" cmpd="sng">
            <a:solidFill>
              <a:srgbClr val="4775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9875520" y="1828800"/>
            <a:ext cx="685800" cy="685800"/>
          </a:xfrm>
          <a:prstGeom prst="ellipse">
            <a:avLst/>
          </a:prstGeom>
          <a:solidFill>
            <a:srgbClr val="2CA094"/>
          </a:solidFill>
          <a:ln w="9525" cap="flat" cmpd="sng">
            <a:solidFill>
              <a:srgbClr val="2CA09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9144000" y="2971800"/>
            <a:ext cx="685800" cy="685800"/>
          </a:xfrm>
          <a:prstGeom prst="ellipse">
            <a:avLst/>
          </a:prstGeom>
          <a:solidFill>
            <a:srgbClr val="F48543"/>
          </a:solidFill>
          <a:ln w="9525" cap="flat" cmpd="sng">
            <a:solidFill>
              <a:srgbClr val="F485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9144000" y="4251960"/>
            <a:ext cx="685800" cy="685800"/>
          </a:xfrm>
          <a:prstGeom prst="ellipse">
            <a:avLst/>
          </a:prstGeom>
          <a:solidFill>
            <a:srgbClr val="815BB3"/>
          </a:solidFill>
          <a:ln w="9525" cap="flat" cmpd="sng">
            <a:solidFill>
              <a:srgbClr val="815BB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685800" y="5712770"/>
            <a:ext cx="2771078" cy="761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7B3C4"/>
                </a:solidFill>
                <a:latin typeface="Arial"/>
                <a:ea typeface="Arial"/>
                <a:cs typeface="Arial"/>
                <a:sym typeface="Arial"/>
              </a:rPr>
              <a:t>Adam Dendek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>
              <a:solidFill>
                <a:srgbClr val="A7B3C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7B3C4"/>
                </a:solidFill>
                <a:latin typeface="Arial"/>
                <a:ea typeface="Arial"/>
                <a:cs typeface="Arial"/>
                <a:sym typeface="Arial"/>
              </a:rPr>
              <a:t>14.10.2026</a:t>
            </a:r>
          </a:p>
        </p:txBody>
      </p:sp>
      <p:sp>
        <p:nvSpPr>
          <p:cNvPr id="109" name="Google Shape;109;p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7B3C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fba6a53530_1_0" descr="Beautify as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71D168-435F-4CB5-1E43-5D62EAFF2AB9}"/>
                  </a:ext>
                </a:extLst>
              </p14:cNvPr>
              <p14:cNvContentPartPr/>
              <p14:nvPr/>
            </p14:nvContentPartPr>
            <p14:xfrm>
              <a:off x="3950851" y="3409349"/>
              <a:ext cx="1079280" cy="40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71D168-435F-4CB5-1E43-5D62EAFF2A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44731" y="3403229"/>
                <a:ext cx="10915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67F42E-C527-C305-2668-E1108E8B45C1}"/>
                  </a:ext>
                </a:extLst>
              </p14:cNvPr>
              <p14:cNvContentPartPr/>
              <p14:nvPr/>
            </p14:nvContentPartPr>
            <p14:xfrm>
              <a:off x="10745491" y="4919909"/>
              <a:ext cx="432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67F42E-C527-C305-2668-E1108E8B45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39371" y="4913789"/>
                <a:ext cx="1656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OPENING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Today's journey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685800" y="1874519"/>
            <a:ext cx="658368" cy="658368"/>
          </a:xfrm>
          <a:prstGeom prst="ellipse">
            <a:avLst/>
          </a:prstGeom>
          <a:solidFill>
            <a:srgbClr val="F48543"/>
          </a:solidFill>
          <a:ln w="9525" cap="flat" cmpd="sng">
            <a:solidFill>
              <a:srgbClr val="F485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cxnSp>
        <p:nvCxnSpPr>
          <p:cNvPr id="126" name="Google Shape;126;p2"/>
          <p:cNvCxnSpPr/>
          <p:nvPr/>
        </p:nvCxnSpPr>
        <p:spPr>
          <a:xfrm>
            <a:off x="1399032" y="2203704"/>
            <a:ext cx="950976" cy="0"/>
          </a:xfrm>
          <a:prstGeom prst="straightConnector1">
            <a:avLst/>
          </a:prstGeom>
          <a:noFill/>
          <a:ln w="22850" cap="flat" cmpd="sng">
            <a:solidFill>
              <a:srgbClr val="B4BCC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27" name="Google Shape;127;p2"/>
          <p:cNvSpPr txBox="1"/>
          <p:nvPr/>
        </p:nvSpPr>
        <p:spPr>
          <a:xfrm>
            <a:off x="640080" y="269748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2532888" y="1874519"/>
            <a:ext cx="658368" cy="658368"/>
          </a:xfrm>
          <a:prstGeom prst="ellipse">
            <a:avLst/>
          </a:prstGeom>
          <a:solidFill>
            <a:srgbClr val="172338"/>
          </a:solidFill>
          <a:ln w="9525" cap="flat" cmpd="sng">
            <a:solidFill>
              <a:srgbClr val="17233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cxnSp>
        <p:nvCxnSpPr>
          <p:cNvPr id="129" name="Google Shape;129;p2"/>
          <p:cNvCxnSpPr/>
          <p:nvPr/>
        </p:nvCxnSpPr>
        <p:spPr>
          <a:xfrm>
            <a:off x="3246120" y="2203704"/>
            <a:ext cx="950976" cy="0"/>
          </a:xfrm>
          <a:prstGeom prst="straightConnector1">
            <a:avLst/>
          </a:prstGeom>
          <a:noFill/>
          <a:ln w="22850" cap="flat" cmpd="sng">
            <a:solidFill>
              <a:srgbClr val="B4BCC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30" name="Google Shape;130;p2"/>
          <p:cNvSpPr txBox="1"/>
          <p:nvPr/>
        </p:nvSpPr>
        <p:spPr>
          <a:xfrm>
            <a:off x="2487168" y="269748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Forward graph</a:t>
            </a: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4379976" y="1874519"/>
            <a:ext cx="658368" cy="658368"/>
          </a:xfrm>
          <a:prstGeom prst="ellipse">
            <a:avLst/>
          </a:prstGeom>
          <a:solidFill>
            <a:srgbClr val="172338"/>
          </a:solidFill>
          <a:ln w="9525" cap="flat" cmpd="sng">
            <a:solidFill>
              <a:srgbClr val="17233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cxnSp>
        <p:nvCxnSpPr>
          <p:cNvPr id="132" name="Google Shape;132;p2"/>
          <p:cNvCxnSpPr/>
          <p:nvPr/>
        </p:nvCxnSpPr>
        <p:spPr>
          <a:xfrm>
            <a:off x="5093208" y="2203704"/>
            <a:ext cx="950976" cy="0"/>
          </a:xfrm>
          <a:prstGeom prst="straightConnector1">
            <a:avLst/>
          </a:prstGeom>
          <a:noFill/>
          <a:ln w="22850" cap="flat" cmpd="sng">
            <a:solidFill>
              <a:srgbClr val="B4BCC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33" name="Google Shape;133;p2"/>
          <p:cNvSpPr txBox="1"/>
          <p:nvPr/>
        </p:nvSpPr>
        <p:spPr>
          <a:xfrm>
            <a:off x="4334256" y="269748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Backward pass (scalar)</a:t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6227064" y="1874519"/>
            <a:ext cx="658368" cy="658368"/>
          </a:xfrm>
          <a:prstGeom prst="ellipse">
            <a:avLst/>
          </a:prstGeom>
          <a:solidFill>
            <a:srgbClr val="172338"/>
          </a:solidFill>
          <a:ln w="9525" cap="flat" cmpd="sng">
            <a:solidFill>
              <a:srgbClr val="17233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cxnSp>
        <p:nvCxnSpPr>
          <p:cNvPr id="135" name="Google Shape;135;p2"/>
          <p:cNvCxnSpPr/>
          <p:nvPr/>
        </p:nvCxnSpPr>
        <p:spPr>
          <a:xfrm>
            <a:off x="6940296" y="2203704"/>
            <a:ext cx="950976" cy="0"/>
          </a:xfrm>
          <a:prstGeom prst="straightConnector1">
            <a:avLst/>
          </a:prstGeom>
          <a:noFill/>
          <a:ln w="22850" cap="flat" cmpd="sng">
            <a:solidFill>
              <a:srgbClr val="B4BCC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36" name="Google Shape;136;p2"/>
          <p:cNvSpPr txBox="1"/>
          <p:nvPr/>
        </p:nvSpPr>
        <p:spPr>
          <a:xfrm>
            <a:off x="6181344" y="269748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Backward Pass Tensors </a:t>
            </a: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8074152" y="1874519"/>
            <a:ext cx="658368" cy="658368"/>
          </a:xfrm>
          <a:prstGeom prst="ellipse">
            <a:avLst/>
          </a:prstGeom>
          <a:solidFill>
            <a:srgbClr val="172338"/>
          </a:solidFill>
          <a:ln w="9525" cap="flat" cmpd="sng">
            <a:solidFill>
              <a:srgbClr val="17233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cxnSp>
        <p:nvCxnSpPr>
          <p:cNvPr id="138" name="Google Shape;138;p2"/>
          <p:cNvCxnSpPr/>
          <p:nvPr/>
        </p:nvCxnSpPr>
        <p:spPr>
          <a:xfrm>
            <a:off x="8787384" y="2203704"/>
            <a:ext cx="950976" cy="0"/>
          </a:xfrm>
          <a:prstGeom prst="straightConnector1">
            <a:avLst/>
          </a:prstGeom>
          <a:noFill/>
          <a:ln w="22850" cap="flat" cmpd="sng">
            <a:solidFill>
              <a:srgbClr val="B4BCC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39" name="Google Shape;139;p2"/>
          <p:cNvSpPr txBox="1"/>
          <p:nvPr/>
        </p:nvSpPr>
        <p:spPr>
          <a:xfrm>
            <a:off x="8028431" y="269748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Neural nets</a:t>
            </a:r>
            <a:endParaRPr/>
          </a:p>
        </p:txBody>
      </p:sp>
      <p:sp>
        <p:nvSpPr>
          <p:cNvPr id="140" name="Google Shape;140;p2"/>
          <p:cNvSpPr/>
          <p:nvPr/>
        </p:nvSpPr>
        <p:spPr>
          <a:xfrm>
            <a:off x="9921240" y="1874519"/>
            <a:ext cx="658368" cy="658368"/>
          </a:xfrm>
          <a:prstGeom prst="ellipse">
            <a:avLst/>
          </a:prstGeom>
          <a:solidFill>
            <a:srgbClr val="172338"/>
          </a:solidFill>
          <a:ln w="9525" cap="flat" cmpd="sng">
            <a:solidFill>
              <a:srgbClr val="17233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9875519" y="269748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Beyond</a:t>
            </a:r>
            <a:endParaRPr/>
          </a:p>
        </p:txBody>
      </p:sp>
      <p:sp>
        <p:nvSpPr>
          <p:cNvPr id="142" name="Google Shape;142;p2"/>
          <p:cNvSpPr/>
          <p:nvPr/>
        </p:nvSpPr>
        <p:spPr>
          <a:xfrm>
            <a:off x="2240280" y="4160520"/>
            <a:ext cx="7635240" cy="685800"/>
          </a:xfrm>
          <a:prstGeom prst="roundRect">
            <a:avLst>
              <a:gd name="adj" fmla="val 16667"/>
            </a:avLst>
          </a:prstGeom>
          <a:solidFill>
            <a:srgbClr val="E0F4F1"/>
          </a:solidFill>
          <a:ln w="9525" cap="flat" cmpd="sng">
            <a:solidFill>
              <a:srgbClr val="E0F4F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2404872" y="4251959"/>
            <a:ext cx="7306055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Goal: understand the mechanism — not just the API.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E94AA5-6F41-AA35-E8E5-733C16E8A33C}"/>
                  </a:ext>
                </a:extLst>
              </p14:cNvPr>
              <p14:cNvContentPartPr/>
              <p14:nvPr/>
            </p14:nvContentPartPr>
            <p14:xfrm>
              <a:off x="2134291" y="3680429"/>
              <a:ext cx="21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E94AA5-6F41-AA35-E8E5-733C16E8A3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8171" y="3674309"/>
                <a:ext cx="144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ba26f61f4_0_353"/>
          <p:cNvSpPr txBox="1"/>
          <p:nvPr/>
        </p:nvSpPr>
        <p:spPr>
          <a:xfrm>
            <a:off x="658368" y="320040"/>
            <a:ext cx="4389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2CA094"/>
                </a:solidFill>
              </a:rPr>
              <a:t>opening</a:t>
            </a:r>
            <a:endParaRPr/>
          </a:p>
        </p:txBody>
      </p:sp>
      <p:sp>
        <p:nvSpPr>
          <p:cNvPr id="150" name="Google Shape;150;g3fba26f61f4_0_353"/>
          <p:cNvSpPr txBox="1"/>
          <p:nvPr/>
        </p:nvSpPr>
        <p:spPr>
          <a:xfrm>
            <a:off x="655350" y="696457"/>
            <a:ext cx="10881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1B2430"/>
                </a:solidFill>
              </a:rPr>
              <a:t>Project repository</a:t>
            </a:r>
            <a:endParaRPr/>
          </a:p>
        </p:txBody>
      </p:sp>
      <p:sp>
        <p:nvSpPr>
          <p:cNvPr id="151" name="Google Shape;151;g3fba26f61f4_0_353"/>
          <p:cNvSpPr/>
          <p:nvPr/>
        </p:nvSpPr>
        <p:spPr>
          <a:xfrm>
            <a:off x="658368" y="1399032"/>
            <a:ext cx="914400" cy="50400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fba26f61f4_0_353"/>
          <p:cNvSpPr txBox="1"/>
          <p:nvPr/>
        </p:nvSpPr>
        <p:spPr>
          <a:xfrm>
            <a:off x="579119" y="1758674"/>
            <a:ext cx="4935071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C24B4B"/>
                </a:solidFill>
              </a:rPr>
              <a:t>The lecture is supported by the utorch repo</a:t>
            </a:r>
            <a:endParaRPr/>
          </a:p>
        </p:txBody>
      </p:sp>
      <p:sp>
        <p:nvSpPr>
          <p:cNvPr id="154" name="Google Shape;154;g3fba26f61f4_0_353"/>
          <p:cNvSpPr txBox="1"/>
          <p:nvPr/>
        </p:nvSpPr>
        <p:spPr>
          <a:xfrm>
            <a:off x="739648" y="2621294"/>
            <a:ext cx="4389000" cy="2837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lvl="0"/>
            <a:r>
              <a:rPr lang="en-PL"/>
              <a:t>Each branch isolates </a:t>
            </a:r>
            <a:r>
              <a:rPr lang="en-PL" b="1"/>
              <a:t>one conceptual leap</a:t>
            </a:r>
            <a:r>
              <a:rPr lang="en-PL"/>
              <a:t>:</a:t>
            </a:r>
          </a:p>
          <a:p>
            <a:pPr lvl="0"/>
            <a:endParaRPr lang="en-PL"/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PL" b="1"/>
              <a:t>feat/01-initial-repo-structure</a:t>
            </a:r>
            <a:r>
              <a:rPr lang="en-PL"/>
              <a:t>: Clean build system and environment sanity.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PL" b="1"/>
              <a:t>feat/02-forward-graphs</a:t>
            </a:r>
            <a:r>
              <a:rPr lang="en-PL"/>
              <a:t>: Dynamic tape recording without gradients.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PL" b="1"/>
              <a:t>feat/03-scalar-autograd</a:t>
            </a:r>
            <a:r>
              <a:rPr lang="en-PL"/>
              <a:t>: Reverse-mode chain rule on single numbers.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PL" b="1"/>
              <a:t>feat/04-tensor-autograd</a:t>
            </a:r>
            <a:r>
              <a:rPr lang="en-PL"/>
              <a:t>: Matrix calculus, VJPs, and dimensional alignment.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PL" b="1"/>
              <a:t>feat/05-nn-framework</a:t>
            </a:r>
            <a:r>
              <a:rPr lang="en-PL"/>
              <a:t>: Object-oriented building blocks and training loops.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PL" b="1"/>
              <a:t>main</a:t>
            </a:r>
            <a:r>
              <a:rPr lang="en-PL"/>
              <a:t>: The integrated reference build.</a:t>
            </a:r>
          </a:p>
        </p:txBody>
      </p:sp>
      <p:sp>
        <p:nvSpPr>
          <p:cNvPr id="155" name="Google Shape;155;g3fba26f61f4_0_353"/>
          <p:cNvSpPr txBox="1"/>
          <p:nvPr/>
        </p:nvSpPr>
        <p:spPr>
          <a:xfrm>
            <a:off x="6096000" y="2321609"/>
            <a:ext cx="4251960" cy="77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lvl="0"/>
            <a:r>
              <a:rPr lang="en-US" sz="2000" b="1">
                <a:solidFill>
                  <a:schemeClr val="bg2"/>
                </a:solidFill>
              </a:rPr>
              <a:t>https://github.com/adendek/utorch</a:t>
            </a:r>
            <a:endParaRPr sz="1600">
              <a:solidFill>
                <a:schemeClr val="bg2"/>
              </a:solidFill>
            </a:endParaRPr>
          </a:p>
        </p:txBody>
      </p:sp>
      <p:sp>
        <p:nvSpPr>
          <p:cNvPr id="157" name="Google Shape;157;g3fba26f61f4_0_353"/>
          <p:cNvSpPr/>
          <p:nvPr/>
        </p:nvSpPr>
        <p:spPr>
          <a:xfrm>
            <a:off x="9738360" y="320040"/>
            <a:ext cx="1737300" cy="384000"/>
          </a:xfrm>
          <a:prstGeom prst="roundRect">
            <a:avLst>
              <a:gd name="adj" fmla="val 16667"/>
            </a:avLst>
          </a:prstGeom>
          <a:solidFill>
            <a:srgbClr val="F48543"/>
          </a:solidFill>
          <a:ln w="9525" cap="flat" cmpd="sng">
            <a:solidFill>
              <a:srgbClr val="F485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fba26f61f4_0_353"/>
          <p:cNvSpPr txBox="1"/>
          <p:nvPr/>
        </p:nvSpPr>
        <p:spPr>
          <a:xfrm>
            <a:off x="9802368" y="393192"/>
            <a:ext cx="1609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 TOUR</a:t>
            </a:r>
            <a:endParaRPr/>
          </a:p>
        </p:txBody>
      </p:sp>
      <p:pic>
        <p:nvPicPr>
          <p:cNvPr id="159" name="Google Shape;159;g3fba26f61f4_0_3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354" y="3092778"/>
            <a:ext cx="2596725" cy="259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65C988-D336-32E3-ABFA-CA572539BEC4}"/>
              </a:ext>
            </a:extLst>
          </p:cNvPr>
          <p:cNvSpPr txBox="1"/>
          <p:nvPr/>
        </p:nvSpPr>
        <p:spPr>
          <a:xfrm>
            <a:off x="441960" y="6091684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PL" sz="1400" b="1" i="1">
                <a:solidFill>
                  <a:srgbClr val="00B050"/>
                </a:solidFill>
                <a:effectLst/>
                <a:latin typeface="Arial"/>
              </a:rPr>
              <a:t>Each branch builds strictly on the previous one. </a:t>
            </a:r>
          </a:p>
          <a:p>
            <a:pPr indent="0" algn="l">
              <a:buNone/>
            </a:pPr>
            <a:r>
              <a:rPr lang="en-PL" sz="1400" b="1" i="1">
                <a:solidFill>
                  <a:srgbClr val="00B050"/>
                </a:solidFill>
                <a:effectLst/>
                <a:latin typeface="Arial"/>
              </a:rPr>
              <a:t>Checkout the branch to follow the lecture live.</a:t>
            </a:r>
            <a:endParaRPr lang="en-PL" sz="1400" b="0" i="1">
              <a:solidFill>
                <a:srgbClr val="00B050"/>
              </a:solidFill>
              <a:effectLst/>
              <a:latin typeface="Arial"/>
            </a:endParaRPr>
          </a:p>
          <a:p>
            <a:pPr>
              <a:buNone/>
            </a:pPr>
            <a:br>
              <a:rPr lang="en-PL"/>
            </a:br>
            <a:endParaRPr lang="en-P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A4AA3-52DE-4FF0-AD12-51B3A9125FD3}"/>
              </a:ext>
            </a:extLst>
          </p:cNvPr>
          <p:cNvSpPr txBox="1"/>
          <p:nvPr/>
        </p:nvSpPr>
        <p:spPr>
          <a:xfrm>
            <a:off x="6096000" y="6007654"/>
            <a:ext cx="6099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chemeClr val="tx1"/>
                </a:solidFill>
              </a:rPr>
              <a:t>Documentaiont page</a:t>
            </a:r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: https://adendek.github.io/utorch/</a:t>
            </a:r>
            <a:endParaRPr lang="en-PL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/>
        </p:nvSpPr>
        <p:spPr>
          <a:xfrm>
            <a:off x="658368" y="320040"/>
            <a:ext cx="4389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Mootivation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658368" y="658368"/>
            <a:ext cx="10881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1B2430"/>
                </a:solidFill>
              </a:rPr>
              <a:t>Consider two papers from two different eras. 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658368" y="1399032"/>
            <a:ext cx="914400" cy="50400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777240" y="1737360"/>
            <a:ext cx="5120700" cy="4800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05840" y="1965960"/>
            <a:ext cx="1051500" cy="438900"/>
          </a:xfrm>
          <a:prstGeom prst="roundRect">
            <a:avLst>
              <a:gd name="adj" fmla="val 16667"/>
            </a:avLst>
          </a:prstGeom>
          <a:solidFill>
            <a:srgbClr val="F48543"/>
          </a:solidFill>
          <a:ln w="9525" cap="flat" cmpd="sng">
            <a:solidFill>
              <a:srgbClr val="F485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1005840" y="2020824"/>
            <a:ext cx="1051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1997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1005840" y="2606039"/>
            <a:ext cx="4663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Long Short-Term Memory</a:t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6309360" y="1747408"/>
            <a:ext cx="5120700" cy="4800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537960" y="1965960"/>
            <a:ext cx="1051500" cy="438900"/>
          </a:xfrm>
          <a:prstGeom prst="roundRect">
            <a:avLst>
              <a:gd name="adj" fmla="val 16667"/>
            </a:avLst>
          </a:prstGeom>
          <a:solidFill>
            <a:srgbClr val="2CA094"/>
          </a:solidFill>
          <a:ln w="9525" cap="flat" cmpd="sng">
            <a:solidFill>
              <a:srgbClr val="2CA09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6537960" y="2020824"/>
            <a:ext cx="1051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</a:rPr>
              <a:t>     2023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6537960" y="2606039"/>
            <a:ext cx="4663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1B2430"/>
                </a:solidFill>
              </a:rPr>
              <a:t>Attention is all you need</a:t>
            </a:r>
            <a:endParaRPr/>
          </a:p>
        </p:txBody>
      </p:sp>
      <p:pic>
        <p:nvPicPr>
          <p:cNvPr id="177" name="Google Shape;17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295" y="2953488"/>
            <a:ext cx="2155058" cy="2155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4175" y="3026651"/>
            <a:ext cx="2097372" cy="20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F955F9-4C6E-7259-10EB-90D20923CDD5}"/>
              </a:ext>
            </a:extLst>
          </p:cNvPr>
          <p:cNvSpPr txBox="1"/>
          <p:nvPr/>
        </p:nvSpPr>
        <p:spPr>
          <a:xfrm>
            <a:off x="1115568" y="5200096"/>
            <a:ext cx="36382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L" b="1">
                <a:effectLst/>
              </a:rPr>
              <a:t>Hochreiter &amp; Schmidhuber</a:t>
            </a:r>
            <a:endParaRPr lang="en-PL">
              <a:effectLst/>
            </a:endParaRPr>
          </a:p>
          <a:p>
            <a:pPr>
              <a:buNone/>
            </a:pPr>
            <a:r>
              <a:rPr lang="en-PL">
                <a:effectLst/>
              </a:rPr>
              <a:t>Pages 24–29 filled with grueling manual derivative algebra. Every gradient derived and wired by hand.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02BD5C-328E-601E-EF9B-200A788F5CB7}"/>
              </a:ext>
            </a:extLst>
          </p:cNvPr>
          <p:cNvSpPr txBox="1"/>
          <p:nvPr/>
        </p:nvSpPr>
        <p:spPr>
          <a:xfrm>
            <a:off x="6594438" y="5109293"/>
            <a:ext cx="429227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L" b="1">
                <a:effectLst/>
              </a:rPr>
              <a:t>2017 / 2023: Attention &amp; Transformers</a:t>
            </a:r>
          </a:p>
          <a:p>
            <a:pPr>
              <a:buNone/>
            </a:pPr>
            <a:r>
              <a:rPr lang="en-PL" b="1">
                <a:effectLst/>
              </a:rPr>
              <a:t>Vaswani et al.</a:t>
            </a:r>
            <a:endParaRPr lang="en-PL">
              <a:effectLst/>
            </a:endParaRPr>
          </a:p>
          <a:p>
            <a:pPr>
              <a:buNone/>
            </a:pPr>
            <a:r>
              <a:rPr lang="en-PL">
                <a:effectLst/>
              </a:rPr>
              <a:t>Zero pages of manual calculus derivations. </a:t>
            </a:r>
          </a:p>
          <a:p>
            <a:pPr>
              <a:buNone/>
            </a:pPr>
            <a:r>
              <a:rPr lang="en-PL">
                <a:effectLst/>
              </a:rPr>
              <a:t>The entire backward pass is delegated to the autograd engine.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What changed?</a:t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914400" y="1691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C24B4B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914400" y="2148840"/>
            <a:ext cx="4389120" cy="151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• Derive local gradients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• Wire dependencies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900">
                <a:solidFill>
                  <a:srgbClr val="1B2430"/>
                </a:solidFill>
              </a:rPr>
              <a:t>P</a:t>
            </a:r>
            <a:r>
              <a:rPr lang="en-US" sz="1900" b="0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ropagate gradients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• Debug the bookkeeping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6537960" y="1691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68B5C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endParaRPr/>
          </a:p>
        </p:txBody>
      </p:sp>
      <p:sp>
        <p:nvSpPr>
          <p:cNvPr id="194" name="Google Shape;194;p9"/>
          <p:cNvSpPr txBox="1"/>
          <p:nvPr/>
        </p:nvSpPr>
        <p:spPr>
          <a:xfrm>
            <a:off x="6537960" y="2148840"/>
            <a:ext cx="4389120" cy="111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• Write the forward computation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• Call `backward()`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• Receive gradients</a:t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2057400" y="4892040"/>
            <a:ext cx="8138160" cy="713232"/>
          </a:xfrm>
          <a:prstGeom prst="roundRect">
            <a:avLst>
              <a:gd name="adj" fmla="val 16667"/>
            </a:avLst>
          </a:prstGeom>
          <a:solidFill>
            <a:srgbClr val="E0F4F1"/>
          </a:solidFill>
          <a:ln w="9525" cap="flat" cmpd="sng">
            <a:solidFill>
              <a:srgbClr val="E0F4F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2221992" y="4983479"/>
            <a:ext cx="78089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 fontScale="925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Autograd automates the repetitive application of the chain rule.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EF9AB2C8-5D0F-824E-B41B-84D0F2AAE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>
            <a:extLst>
              <a:ext uri="{FF2B5EF4-FFF2-40B4-BE49-F238E27FC236}">
                <a16:creationId xmlns:a16="http://schemas.microsoft.com/office/drawing/2014/main" id="{0FD295F9-6C40-6B13-F510-182E4C337550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lvl="0"/>
            <a:r>
              <a:rPr lang="en-US" sz="40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Let’s move to the branch: </a:t>
            </a:r>
            <a:r>
              <a:rPr lang="en-PL" sz="2800" b="1">
                <a:solidFill>
                  <a:schemeClr val="bg2"/>
                </a:solidFill>
              </a:rPr>
              <a:t>feat/02-forward-graphs</a:t>
            </a:r>
            <a:endParaRPr sz="2000">
              <a:solidFill>
                <a:schemeClr val="bg2"/>
              </a:solidFill>
            </a:endParaRPr>
          </a:p>
        </p:txBody>
      </p:sp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F1A4EAC6-CC0E-F80E-E627-801DDA1C7868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4A3111-F5FA-4F0E-06B1-963D457FF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73" y="2813050"/>
            <a:ext cx="3048254" cy="304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15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FORWARD PASS</a:t>
            </a:r>
            <a:endParaRPr/>
          </a:p>
        </p:txBody>
      </p:sp>
      <p:sp>
        <p:nvSpPr>
          <p:cNvPr id="205" name="Google Shape;205;p11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Start with ordinary Python</a:t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658368" y="1740587"/>
            <a:ext cx="4663440" cy="2971800"/>
          </a:xfrm>
          <a:prstGeom prst="roundRect">
            <a:avLst>
              <a:gd name="adj" fmla="val 16667"/>
            </a:avLst>
          </a:prstGeom>
          <a:solidFill>
            <a:srgbClr val="1D2431"/>
          </a:solidFill>
          <a:ln w="9525" cap="flat" cmpd="sng">
            <a:solidFill>
              <a:srgbClr val="1D243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1024128" y="1847088"/>
            <a:ext cx="4261103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B1BED1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/>
          </a:p>
        </p:txBody>
      </p:sp>
      <p:sp>
        <p:nvSpPr>
          <p:cNvPr id="210" name="Google Shape;210;p11"/>
          <p:cNvSpPr txBox="1"/>
          <p:nvPr/>
        </p:nvSpPr>
        <p:spPr>
          <a:xfrm>
            <a:off x="1024128" y="2148840"/>
            <a:ext cx="4261103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r>
              <a:rPr lang="en-GB" sz="1800">
                <a:solidFill>
                  <a:schemeClr val="bg1"/>
                </a:solidFill>
              </a:rPr>
              <a:t>a = 2</a:t>
            </a:r>
            <a:endParaRPr lang="en-PL" sz="1800">
              <a:solidFill>
                <a:schemeClr val="bg1"/>
              </a:solidFill>
            </a:endParaRPr>
          </a:p>
          <a:p>
            <a:r>
              <a:rPr lang="en-GB" sz="1800">
                <a:solidFill>
                  <a:schemeClr val="bg1"/>
                </a:solidFill>
              </a:rPr>
              <a:t>b = 3</a:t>
            </a:r>
          </a:p>
          <a:p>
            <a:r>
              <a:rPr lang="en-GB" sz="1800">
                <a:solidFill>
                  <a:schemeClr val="bg1"/>
                </a:solidFill>
              </a:rPr>
              <a:t>c = a*b</a:t>
            </a:r>
          </a:p>
          <a:p>
            <a:r>
              <a:rPr lang="en-GB" sz="1800">
                <a:solidFill>
                  <a:schemeClr val="bg1"/>
                </a:solidFill>
              </a:rPr>
              <a:t>d = c+a</a:t>
            </a:r>
            <a:r>
              <a:rPr lang="en-PL" sz="1800">
                <a:solidFill>
                  <a:schemeClr val="bg1"/>
                </a:solidFill>
              </a:rPr>
              <a:t> </a:t>
            </a:r>
          </a:p>
          <a:p>
            <a:r>
              <a:rPr lang="en-PL" sz="1800">
                <a:solidFill>
                  <a:schemeClr val="bg1"/>
                </a:solidFill>
              </a:rPr>
              <a:t>d</a:t>
            </a:r>
          </a:p>
          <a:p>
            <a:r>
              <a:rPr lang="en-PL" sz="1800">
                <a:solidFill>
                  <a:schemeClr val="bg1"/>
                </a:solidFill>
              </a:rPr>
              <a:t># print 8</a:t>
            </a:r>
          </a:p>
          <a:p>
            <a:endParaRPr lang="en-PL">
              <a:solidFill>
                <a:schemeClr val="bg1"/>
              </a:solidFill>
            </a:endParaRPr>
          </a:p>
          <a:p>
            <a:endParaRPr lang="en-PL">
              <a:solidFill>
                <a:schemeClr val="bg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989320" y="1874519"/>
            <a:ext cx="5257800" cy="132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6153912" y="1965960"/>
            <a:ext cx="492861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Python remembers the value of </a:t>
            </a:r>
            <a:r>
              <a:rPr lang="en-US" sz="2100" b="1">
                <a:solidFill>
                  <a:schemeClr val="accent2"/>
                </a:solidFill>
              </a:rPr>
              <a:t>d</a:t>
            </a:r>
            <a:r>
              <a:rPr lang="en-US" sz="21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1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1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It does not remember how </a:t>
            </a:r>
            <a:r>
              <a:rPr lang="en-US" sz="21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1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 was produced.</a:t>
            </a:r>
            <a:endParaRPr/>
          </a:p>
        </p:txBody>
      </p:sp>
      <p:sp>
        <p:nvSpPr>
          <p:cNvPr id="213" name="Google Shape;213;p11"/>
          <p:cNvSpPr txBox="1"/>
          <p:nvPr/>
        </p:nvSpPr>
        <p:spPr>
          <a:xfrm>
            <a:off x="6172200" y="379476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48543"/>
                </a:solidFill>
                <a:latin typeface="Arial"/>
                <a:ea typeface="Arial"/>
                <a:cs typeface="Arial"/>
                <a:sym typeface="Arial"/>
              </a:rPr>
              <a:t>For autograd, the history matters.</a:t>
            </a:r>
            <a:endParaRPr/>
          </a:p>
        </p:txBody>
      </p:sp>
      <p:sp>
        <p:nvSpPr>
          <p:cNvPr id="214" name="Google Shape;214;p11"/>
          <p:cNvSpPr txBox="1"/>
          <p:nvPr/>
        </p:nvSpPr>
        <p:spPr>
          <a:xfrm>
            <a:off x="6949440" y="6455664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Side Quest: Is python interpreter or compiled languge?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D2BB1ECA-440B-83A0-ACFE-F774DBEF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>
            <a:extLst>
              <a:ext uri="{FF2B5EF4-FFF2-40B4-BE49-F238E27FC236}">
                <a16:creationId xmlns:a16="http://schemas.microsoft.com/office/drawing/2014/main" id="{9517506A-6A5D-A0D4-64F3-E0290710DB19}"/>
              </a:ext>
            </a:extLst>
          </p:cNvPr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FORWARD PASS</a:t>
            </a:r>
            <a:endParaRPr/>
          </a:p>
        </p:txBody>
      </p:sp>
      <p:sp>
        <p:nvSpPr>
          <p:cNvPr id="221" name="Google Shape;221;p12">
            <a:extLst>
              <a:ext uri="{FF2B5EF4-FFF2-40B4-BE49-F238E27FC236}">
                <a16:creationId xmlns:a16="http://schemas.microsoft.com/office/drawing/2014/main" id="{3A1547AC-1715-1FB9-1D6C-F0C8AFB60529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lvl="0"/>
            <a:r>
              <a:rPr lang="en-PL" sz="3200" b="1"/>
              <a:t>We Need a Smarter Number: (Tensor)</a:t>
            </a:r>
            <a:endParaRPr b="1"/>
          </a:p>
        </p:txBody>
      </p:sp>
      <p:sp>
        <p:nvSpPr>
          <p:cNvPr id="222" name="Google Shape;222;p12">
            <a:extLst>
              <a:ext uri="{FF2B5EF4-FFF2-40B4-BE49-F238E27FC236}">
                <a16:creationId xmlns:a16="http://schemas.microsoft.com/office/drawing/2014/main" id="{A53B7AD7-F26E-34F7-AD11-0AF9754D4198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>
            <a:extLst>
              <a:ext uri="{FF2B5EF4-FFF2-40B4-BE49-F238E27FC236}">
                <a16:creationId xmlns:a16="http://schemas.microsoft.com/office/drawing/2014/main" id="{B2841E74-1F5A-2AE0-E979-892509E39644}"/>
              </a:ext>
            </a:extLst>
          </p:cNvPr>
          <p:cNvSpPr/>
          <p:nvPr/>
        </p:nvSpPr>
        <p:spPr>
          <a:xfrm>
            <a:off x="8630412" y="3101788"/>
            <a:ext cx="2743200" cy="3474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>
            <a:extLst>
              <a:ext uri="{FF2B5EF4-FFF2-40B4-BE49-F238E27FC236}">
                <a16:creationId xmlns:a16="http://schemas.microsoft.com/office/drawing/2014/main" id="{2123DE73-87AA-6E7F-1598-F1B00B3FCDE5}"/>
              </a:ext>
            </a:extLst>
          </p:cNvPr>
          <p:cNvSpPr txBox="1"/>
          <p:nvPr/>
        </p:nvSpPr>
        <p:spPr>
          <a:xfrm>
            <a:off x="8805672" y="33375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48543"/>
                </a:solidFill>
              </a:rPr>
              <a:t>Tensor</a:t>
            </a:r>
            <a:endParaRPr/>
          </a:p>
        </p:txBody>
      </p:sp>
      <p:sp>
        <p:nvSpPr>
          <p:cNvPr id="227" name="Google Shape;227;p12">
            <a:extLst>
              <a:ext uri="{FF2B5EF4-FFF2-40B4-BE49-F238E27FC236}">
                <a16:creationId xmlns:a16="http://schemas.microsoft.com/office/drawing/2014/main" id="{96B1909B-BB1D-B2CC-75FE-F86735C39A66}"/>
              </a:ext>
            </a:extLst>
          </p:cNvPr>
          <p:cNvSpPr/>
          <p:nvPr/>
        </p:nvSpPr>
        <p:spPr>
          <a:xfrm>
            <a:off x="8897112" y="4023360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BEFF4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>
            <a:extLst>
              <a:ext uri="{FF2B5EF4-FFF2-40B4-BE49-F238E27FC236}">
                <a16:creationId xmlns:a16="http://schemas.microsoft.com/office/drawing/2014/main" id="{ECB1102C-497A-2E04-C08F-E78638B98B28}"/>
              </a:ext>
            </a:extLst>
          </p:cNvPr>
          <p:cNvSpPr txBox="1"/>
          <p:nvPr/>
        </p:nvSpPr>
        <p:spPr>
          <a:xfrm>
            <a:off x="8988552" y="40873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/>
          </a:p>
        </p:txBody>
      </p:sp>
      <p:sp>
        <p:nvSpPr>
          <p:cNvPr id="229" name="Google Shape;229;p12">
            <a:extLst>
              <a:ext uri="{FF2B5EF4-FFF2-40B4-BE49-F238E27FC236}">
                <a16:creationId xmlns:a16="http://schemas.microsoft.com/office/drawing/2014/main" id="{14771CE4-1BB8-CF0C-5771-29EFDD1F66DB}"/>
              </a:ext>
            </a:extLst>
          </p:cNvPr>
          <p:cNvSpPr/>
          <p:nvPr/>
        </p:nvSpPr>
        <p:spPr>
          <a:xfrm>
            <a:off x="8897112" y="4553712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BEFF4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>
            <a:extLst>
              <a:ext uri="{FF2B5EF4-FFF2-40B4-BE49-F238E27FC236}">
                <a16:creationId xmlns:a16="http://schemas.microsoft.com/office/drawing/2014/main" id="{A80D7094-60D5-A34F-90EE-CD0104AE3F6C}"/>
              </a:ext>
            </a:extLst>
          </p:cNvPr>
          <p:cNvSpPr txBox="1"/>
          <p:nvPr/>
        </p:nvSpPr>
        <p:spPr>
          <a:xfrm>
            <a:off x="8988552" y="46177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gradient</a:t>
            </a:r>
            <a:endParaRPr/>
          </a:p>
        </p:txBody>
      </p:sp>
      <p:sp>
        <p:nvSpPr>
          <p:cNvPr id="231" name="Google Shape;231;p12">
            <a:extLst>
              <a:ext uri="{FF2B5EF4-FFF2-40B4-BE49-F238E27FC236}">
                <a16:creationId xmlns:a16="http://schemas.microsoft.com/office/drawing/2014/main" id="{AAEAFC32-3E83-6E88-D5DB-B150EB3BA486}"/>
              </a:ext>
            </a:extLst>
          </p:cNvPr>
          <p:cNvSpPr/>
          <p:nvPr/>
        </p:nvSpPr>
        <p:spPr>
          <a:xfrm>
            <a:off x="8897112" y="5084064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BEFF4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>
            <a:extLst>
              <a:ext uri="{FF2B5EF4-FFF2-40B4-BE49-F238E27FC236}">
                <a16:creationId xmlns:a16="http://schemas.microsoft.com/office/drawing/2014/main" id="{95228BD8-8772-7783-11E6-0BEBA94DA1EB}"/>
              </a:ext>
            </a:extLst>
          </p:cNvPr>
          <p:cNvSpPr txBox="1"/>
          <p:nvPr/>
        </p:nvSpPr>
        <p:spPr>
          <a:xfrm>
            <a:off x="8988552" y="5148071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parents</a:t>
            </a:r>
            <a:endParaRPr/>
          </a:p>
        </p:txBody>
      </p:sp>
      <p:sp>
        <p:nvSpPr>
          <p:cNvPr id="233" name="Google Shape;233;p12">
            <a:extLst>
              <a:ext uri="{FF2B5EF4-FFF2-40B4-BE49-F238E27FC236}">
                <a16:creationId xmlns:a16="http://schemas.microsoft.com/office/drawing/2014/main" id="{F657BA32-230F-1384-EC93-FC8B3C3C1961}"/>
              </a:ext>
            </a:extLst>
          </p:cNvPr>
          <p:cNvSpPr/>
          <p:nvPr/>
        </p:nvSpPr>
        <p:spPr>
          <a:xfrm>
            <a:off x="8897112" y="5614416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BEFF4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>
            <a:extLst>
              <a:ext uri="{FF2B5EF4-FFF2-40B4-BE49-F238E27FC236}">
                <a16:creationId xmlns:a16="http://schemas.microsoft.com/office/drawing/2014/main" id="{53138A94-91DF-CCD9-93D9-A023E1B3B368}"/>
              </a:ext>
            </a:extLst>
          </p:cNvPr>
          <p:cNvSpPr txBox="1"/>
          <p:nvPr/>
        </p:nvSpPr>
        <p:spPr>
          <a:xfrm>
            <a:off x="8988552" y="567842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operation</a:t>
            </a:r>
            <a:endParaRPr/>
          </a:p>
        </p:txBody>
      </p:sp>
      <p:sp>
        <p:nvSpPr>
          <p:cNvPr id="235" name="Google Shape;235;p12">
            <a:extLst>
              <a:ext uri="{FF2B5EF4-FFF2-40B4-BE49-F238E27FC236}">
                <a16:creationId xmlns:a16="http://schemas.microsoft.com/office/drawing/2014/main" id="{C76B493E-BEDF-D0D7-27B7-8757574CD5E8}"/>
              </a:ext>
            </a:extLst>
          </p:cNvPr>
          <p:cNvSpPr/>
          <p:nvPr/>
        </p:nvSpPr>
        <p:spPr>
          <a:xfrm>
            <a:off x="8330184" y="281492"/>
            <a:ext cx="3657600" cy="2560320"/>
          </a:xfrm>
          <a:prstGeom prst="roundRect">
            <a:avLst>
              <a:gd name="adj" fmla="val 16667"/>
            </a:avLst>
          </a:prstGeom>
          <a:solidFill>
            <a:srgbClr val="1D2431"/>
          </a:solidFill>
          <a:ln w="9525" cap="flat" cmpd="sng">
            <a:solidFill>
              <a:srgbClr val="1D243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>
            <a:extLst>
              <a:ext uri="{FF2B5EF4-FFF2-40B4-BE49-F238E27FC236}">
                <a16:creationId xmlns:a16="http://schemas.microsoft.com/office/drawing/2014/main" id="{E4249725-C5AE-B088-A90E-29B778275F7D}"/>
              </a:ext>
            </a:extLst>
          </p:cNvPr>
          <p:cNvSpPr txBox="1"/>
          <p:nvPr/>
        </p:nvSpPr>
        <p:spPr>
          <a:xfrm>
            <a:off x="8531352" y="692972"/>
            <a:ext cx="325526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lvl="0"/>
            <a:r>
              <a:rPr lang="en-PL" sz="1800">
                <a:solidFill>
                  <a:schemeClr val="bg1"/>
                </a:solidFill>
              </a:rPr>
              <a:t>a = Tensor(2)</a:t>
            </a:r>
          </a:p>
          <a:p>
            <a:pPr lvl="0"/>
            <a:r>
              <a:rPr lang="en-PL" sz="1800">
                <a:solidFill>
                  <a:schemeClr val="bg1"/>
                </a:solidFill>
              </a:rPr>
              <a:t>b = Tensor(3) </a:t>
            </a:r>
          </a:p>
          <a:p>
            <a:pPr lvl="0"/>
            <a:r>
              <a:rPr lang="en-PL" sz="1800">
                <a:solidFill>
                  <a:schemeClr val="bg1"/>
                </a:solidFill>
              </a:rPr>
              <a:t>c = a * b</a:t>
            </a:r>
          </a:p>
          <a:p>
            <a:pPr lvl="0"/>
            <a:r>
              <a:rPr lang="en-PL" sz="1800">
                <a:solidFill>
                  <a:schemeClr val="bg1"/>
                </a:solidFill>
              </a:rPr>
              <a:t># c stores: parents=[a, b], op='mul’, value =6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64339-9219-4037-254C-E65C9126C4BB}"/>
              </a:ext>
            </a:extLst>
          </p:cNvPr>
          <p:cNvSpPr txBox="1"/>
          <p:nvPr/>
        </p:nvSpPr>
        <p:spPr>
          <a:xfrm>
            <a:off x="405384" y="1797784"/>
            <a:ext cx="625888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L" sz="2400" b="1">
                <a:effectLst/>
              </a:rPr>
              <a:t>Anatomy of an Autograd Node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L" sz="2400">
                <a:effectLst/>
              </a:rPr>
              <a:t>1. </a:t>
            </a:r>
            <a:r>
              <a:rPr lang="en-PL" sz="2400" b="1">
                <a:effectLst/>
              </a:rPr>
              <a:t>data</a:t>
            </a:r>
            <a:r>
              <a:rPr lang="en-PL" sz="2400">
                <a:effectLst/>
              </a:rPr>
              <a:t>: numerical value (scalar or array)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L" sz="2400">
                <a:effectLst/>
              </a:rPr>
              <a:t>2. </a:t>
            </a:r>
            <a:r>
              <a:rPr lang="en-PL" sz="2400" b="1">
                <a:effectLst/>
              </a:rPr>
              <a:t>parents</a:t>
            </a:r>
            <a:r>
              <a:rPr lang="en-PL" sz="2400">
                <a:effectLst/>
              </a:rPr>
              <a:t>: ancestors that produced this node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L" sz="2400">
                <a:effectLst/>
              </a:rPr>
              <a:t>3. </a:t>
            </a:r>
            <a:r>
              <a:rPr lang="en-PL" sz="2400" b="1">
                <a:effectLst/>
              </a:rPr>
              <a:t>operation</a:t>
            </a:r>
            <a:r>
              <a:rPr lang="en-PL" sz="2400">
                <a:effectLst/>
              </a:rPr>
              <a:t>: which primitive ran (+, *, matmul)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L" sz="240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4. </a:t>
            </a:r>
            <a:r>
              <a:rPr lang="en-PL" sz="2400" b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gradient</a:t>
            </a:r>
            <a:r>
              <a:rPr lang="en-PL" sz="240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: sensitivity arriving from loss</a:t>
            </a:r>
          </a:p>
        </p:txBody>
      </p:sp>
    </p:spTree>
    <p:extLst>
      <p:ext uri="{BB962C8B-B14F-4D97-AF65-F5344CB8AC3E}">
        <p14:creationId xmlns:p14="http://schemas.microsoft.com/office/powerpoint/2010/main" val="2029777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19B466D6-173F-2F95-820A-01CE2241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>
            <a:extLst>
              <a:ext uri="{FF2B5EF4-FFF2-40B4-BE49-F238E27FC236}">
                <a16:creationId xmlns:a16="http://schemas.microsoft.com/office/drawing/2014/main" id="{81FAD508-7ABE-FEBB-FD1C-94AD0766825C}"/>
              </a:ext>
            </a:extLst>
          </p:cNvPr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FORWARD PASS</a:t>
            </a:r>
            <a:endParaRPr/>
          </a:p>
        </p:txBody>
      </p:sp>
      <p:sp>
        <p:nvSpPr>
          <p:cNvPr id="221" name="Google Shape;221;p12">
            <a:extLst>
              <a:ext uri="{FF2B5EF4-FFF2-40B4-BE49-F238E27FC236}">
                <a16:creationId xmlns:a16="http://schemas.microsoft.com/office/drawing/2014/main" id="{2E4131E8-2C4F-0D28-B638-78490F6D080B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lvl="0"/>
            <a:r>
              <a:rPr lang="en-PL" sz="3200" b="1"/>
              <a:t>Operator Overloading: The Magic Interception</a:t>
            </a:r>
            <a:endParaRPr b="1"/>
          </a:p>
        </p:txBody>
      </p:sp>
      <p:sp>
        <p:nvSpPr>
          <p:cNvPr id="222" name="Google Shape;222;p12">
            <a:extLst>
              <a:ext uri="{FF2B5EF4-FFF2-40B4-BE49-F238E27FC236}">
                <a16:creationId xmlns:a16="http://schemas.microsoft.com/office/drawing/2014/main" id="{7A73DBA3-2E0A-8D52-F233-9BBF18E77680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8797BE-C44F-E7A6-EFA9-96E32A2F20B1}"/>
              </a:ext>
            </a:extLst>
          </p:cNvPr>
          <p:cNvSpPr txBox="1"/>
          <p:nvPr/>
        </p:nvSpPr>
        <p:spPr>
          <a:xfrm>
            <a:off x="639390" y="1647073"/>
            <a:ext cx="588344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PL" sz="2000" b="1"/>
              <a:t>The Two Jobs of Forward:</a:t>
            </a:r>
          </a:p>
          <a:p>
            <a:pPr fontAlgn="ctr"/>
            <a:r>
              <a:rPr lang="en-PL" sz="2000"/>
              <a:t>1. Compute numeric value: </a:t>
            </a:r>
            <a:br>
              <a:rPr lang="en-PL" sz="2000"/>
            </a:br>
            <a:r>
              <a:rPr lang="en-PL" sz="2000"/>
              <a:t>c = a * b = 6</a:t>
            </a:r>
          </a:p>
          <a:p>
            <a:pPr fontAlgn="ctr"/>
            <a:r>
              <a:rPr lang="en-PL" sz="2000"/>
              <a:t>2. Record dependency graph: parents=[a, b], op='mul'</a:t>
            </a:r>
          </a:p>
          <a:p>
            <a:pPr fontAlgn="ctr"/>
            <a:endParaRPr lang="en-PL" sz="28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BD2E3B-F16B-6F20-2A43-88258E12C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2490"/>
              </p:ext>
            </p:extLst>
          </p:nvPr>
        </p:nvGraphicFramePr>
        <p:xfrm>
          <a:off x="6689738" y="2255804"/>
          <a:ext cx="4849990" cy="165325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424995">
                  <a:extLst>
                    <a:ext uri="{9D8B030D-6E8A-4147-A177-3AD203B41FA5}">
                      <a16:colId xmlns:a16="http://schemas.microsoft.com/office/drawing/2014/main" val="2562802515"/>
                    </a:ext>
                  </a:extLst>
                </a:gridCol>
                <a:gridCol w="2424995">
                  <a:extLst>
                    <a:ext uri="{9D8B030D-6E8A-4147-A177-3AD203B41FA5}">
                      <a16:colId xmlns:a16="http://schemas.microsoft.com/office/drawing/2014/main" val="3746857032"/>
                    </a:ext>
                  </a:extLst>
                </a:gridCol>
              </a:tblGrid>
              <a:tr h="37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L" sz="1900">
                          <a:effectLst/>
                        </a:rPr>
                        <a:t>Expression</a:t>
                      </a:r>
                      <a:endParaRPr lang="en-PL" sz="1900"/>
                    </a:p>
                  </a:txBody>
                  <a:tcPr marL="123754" marR="123754" marT="61877" marB="618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L" sz="1900">
                          <a:effectLst/>
                        </a:rPr>
                        <a:t>Dunder Method</a:t>
                      </a:r>
                      <a:endParaRPr lang="en-PL" sz="1900"/>
                    </a:p>
                  </a:txBody>
                  <a:tcPr marL="123754" marR="123754" marT="61877" marB="61877" anchor="ctr"/>
                </a:tc>
                <a:extLst>
                  <a:ext uri="{0D108BD9-81ED-4DB2-BD59-A6C34878D82A}">
                    <a16:rowId xmlns:a16="http://schemas.microsoft.com/office/drawing/2014/main" val="2807568475"/>
                  </a:ext>
                </a:extLst>
              </a:tr>
              <a:tr h="37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L" sz="1900">
                          <a:effectLst/>
                        </a:rPr>
                        <a:t>c = a * b</a:t>
                      </a:r>
                      <a:endParaRPr lang="en-PL" sz="1900"/>
                    </a:p>
                  </a:txBody>
                  <a:tcPr marL="123754" marR="123754" marT="61877" marB="618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L" sz="1900">
                          <a:effectLst/>
                        </a:rPr>
                        <a:t>a.__mul__(b)</a:t>
                      </a:r>
                      <a:endParaRPr lang="en-PL" sz="1900"/>
                    </a:p>
                  </a:txBody>
                  <a:tcPr marL="123754" marR="123754" marT="61877" marB="61877" anchor="ctr"/>
                </a:tc>
                <a:extLst>
                  <a:ext uri="{0D108BD9-81ED-4DB2-BD59-A6C34878D82A}">
                    <a16:rowId xmlns:a16="http://schemas.microsoft.com/office/drawing/2014/main" val="424176894"/>
                  </a:ext>
                </a:extLst>
              </a:tr>
              <a:tr h="37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L" sz="1900">
                          <a:effectLst/>
                        </a:rPr>
                        <a:t>c = a + b</a:t>
                      </a:r>
                      <a:endParaRPr lang="en-PL" sz="1900"/>
                    </a:p>
                  </a:txBody>
                  <a:tcPr marL="123754" marR="123754" marT="61877" marB="618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L" sz="1900">
                          <a:effectLst/>
                        </a:rPr>
                        <a:t>a.__add__(b)</a:t>
                      </a:r>
                      <a:endParaRPr lang="en-PL" sz="1900"/>
                    </a:p>
                  </a:txBody>
                  <a:tcPr marL="123754" marR="123754" marT="61877" marB="61877" anchor="ctr"/>
                </a:tc>
                <a:extLst>
                  <a:ext uri="{0D108BD9-81ED-4DB2-BD59-A6C34878D82A}">
                    <a16:rowId xmlns:a16="http://schemas.microsoft.com/office/drawing/2014/main" val="2084173652"/>
                  </a:ext>
                </a:extLst>
              </a:tr>
              <a:tr h="37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L" sz="1900">
                          <a:effectLst/>
                        </a:rPr>
                        <a:t>c = a @ b</a:t>
                      </a:r>
                      <a:endParaRPr lang="en-PL" sz="1900"/>
                    </a:p>
                  </a:txBody>
                  <a:tcPr marL="123754" marR="123754" marT="61877" marB="618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L" sz="1900">
                          <a:effectLst/>
                        </a:rPr>
                        <a:t>a.__matmul__(b)</a:t>
                      </a:r>
                      <a:endParaRPr lang="en-PL" sz="1900"/>
                    </a:p>
                  </a:txBody>
                  <a:tcPr marL="123754" marR="123754" marT="61877" marB="61877" anchor="ctr"/>
                </a:tc>
                <a:extLst>
                  <a:ext uri="{0D108BD9-81ED-4DB2-BD59-A6C34878D82A}">
                    <a16:rowId xmlns:a16="http://schemas.microsoft.com/office/drawing/2014/main" val="2520181212"/>
                  </a:ext>
                </a:extLst>
              </a:tr>
            </a:tbl>
          </a:graphicData>
        </a:graphic>
      </p:graphicFrame>
      <p:sp>
        <p:nvSpPr>
          <p:cNvPr id="4" name="Google Shape;225;p12">
            <a:extLst>
              <a:ext uri="{FF2B5EF4-FFF2-40B4-BE49-F238E27FC236}">
                <a16:creationId xmlns:a16="http://schemas.microsoft.com/office/drawing/2014/main" id="{A06B3EA4-2664-290E-C8E7-88DC2BB3E52A}"/>
              </a:ext>
            </a:extLst>
          </p:cNvPr>
          <p:cNvSpPr/>
          <p:nvPr/>
        </p:nvSpPr>
        <p:spPr>
          <a:xfrm>
            <a:off x="639390" y="3359996"/>
            <a:ext cx="2743200" cy="3474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26;p12">
            <a:extLst>
              <a:ext uri="{FF2B5EF4-FFF2-40B4-BE49-F238E27FC236}">
                <a16:creationId xmlns:a16="http://schemas.microsoft.com/office/drawing/2014/main" id="{AC9E4EF0-759A-1139-4CB3-31CA09C16D5D}"/>
              </a:ext>
            </a:extLst>
          </p:cNvPr>
          <p:cNvSpPr txBox="1"/>
          <p:nvPr/>
        </p:nvSpPr>
        <p:spPr>
          <a:xfrm>
            <a:off x="814650" y="3595768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48543"/>
                </a:solidFill>
              </a:rPr>
              <a:t>Tensor</a:t>
            </a:r>
            <a:endParaRPr/>
          </a:p>
        </p:txBody>
      </p:sp>
      <p:sp>
        <p:nvSpPr>
          <p:cNvPr id="6" name="Google Shape;227;p12">
            <a:extLst>
              <a:ext uri="{FF2B5EF4-FFF2-40B4-BE49-F238E27FC236}">
                <a16:creationId xmlns:a16="http://schemas.microsoft.com/office/drawing/2014/main" id="{7BB6ED2C-6C2A-5941-7187-3BF8105A3BEA}"/>
              </a:ext>
            </a:extLst>
          </p:cNvPr>
          <p:cNvSpPr/>
          <p:nvPr/>
        </p:nvSpPr>
        <p:spPr>
          <a:xfrm>
            <a:off x="906090" y="4281568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BEFF4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28;p12">
            <a:extLst>
              <a:ext uri="{FF2B5EF4-FFF2-40B4-BE49-F238E27FC236}">
                <a16:creationId xmlns:a16="http://schemas.microsoft.com/office/drawing/2014/main" id="{3B75242E-0159-88E6-3323-489B63D05F33}"/>
              </a:ext>
            </a:extLst>
          </p:cNvPr>
          <p:cNvSpPr txBox="1"/>
          <p:nvPr/>
        </p:nvSpPr>
        <p:spPr>
          <a:xfrm>
            <a:off x="997530" y="434557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/>
          </a:p>
        </p:txBody>
      </p:sp>
      <p:sp>
        <p:nvSpPr>
          <p:cNvPr id="8" name="Google Shape;229;p12">
            <a:extLst>
              <a:ext uri="{FF2B5EF4-FFF2-40B4-BE49-F238E27FC236}">
                <a16:creationId xmlns:a16="http://schemas.microsoft.com/office/drawing/2014/main" id="{1F1718BF-DD12-BC10-A971-388F0AC18E91}"/>
              </a:ext>
            </a:extLst>
          </p:cNvPr>
          <p:cNvSpPr/>
          <p:nvPr/>
        </p:nvSpPr>
        <p:spPr>
          <a:xfrm>
            <a:off x="906090" y="4811920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BEFF4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30;p12">
            <a:extLst>
              <a:ext uri="{FF2B5EF4-FFF2-40B4-BE49-F238E27FC236}">
                <a16:creationId xmlns:a16="http://schemas.microsoft.com/office/drawing/2014/main" id="{DACB9E15-D402-6E83-13DA-68AB66657590}"/>
              </a:ext>
            </a:extLst>
          </p:cNvPr>
          <p:cNvSpPr txBox="1"/>
          <p:nvPr/>
        </p:nvSpPr>
        <p:spPr>
          <a:xfrm>
            <a:off x="997530" y="48759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gradient</a:t>
            </a:r>
            <a:endParaRPr/>
          </a:p>
        </p:txBody>
      </p:sp>
      <p:sp>
        <p:nvSpPr>
          <p:cNvPr id="10" name="Google Shape;231;p12">
            <a:extLst>
              <a:ext uri="{FF2B5EF4-FFF2-40B4-BE49-F238E27FC236}">
                <a16:creationId xmlns:a16="http://schemas.microsoft.com/office/drawing/2014/main" id="{6A6D9C8A-2520-DBE5-40A6-F8009E155235}"/>
              </a:ext>
            </a:extLst>
          </p:cNvPr>
          <p:cNvSpPr/>
          <p:nvPr/>
        </p:nvSpPr>
        <p:spPr>
          <a:xfrm>
            <a:off x="906090" y="5342272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BEFF4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32;p12">
            <a:extLst>
              <a:ext uri="{FF2B5EF4-FFF2-40B4-BE49-F238E27FC236}">
                <a16:creationId xmlns:a16="http://schemas.microsoft.com/office/drawing/2014/main" id="{7F4D576D-4959-BC10-D8F3-7F24F0C8E9DF}"/>
              </a:ext>
            </a:extLst>
          </p:cNvPr>
          <p:cNvSpPr txBox="1"/>
          <p:nvPr/>
        </p:nvSpPr>
        <p:spPr>
          <a:xfrm>
            <a:off x="997530" y="5406279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parents</a:t>
            </a:r>
            <a:endParaRPr/>
          </a:p>
        </p:txBody>
      </p:sp>
      <p:sp>
        <p:nvSpPr>
          <p:cNvPr id="12" name="Google Shape;233;p12">
            <a:extLst>
              <a:ext uri="{FF2B5EF4-FFF2-40B4-BE49-F238E27FC236}">
                <a16:creationId xmlns:a16="http://schemas.microsoft.com/office/drawing/2014/main" id="{398B9210-BDF3-B278-9CB3-85B48608E0BA}"/>
              </a:ext>
            </a:extLst>
          </p:cNvPr>
          <p:cNvSpPr/>
          <p:nvPr/>
        </p:nvSpPr>
        <p:spPr>
          <a:xfrm>
            <a:off x="906090" y="5872624"/>
            <a:ext cx="2011680" cy="384048"/>
          </a:xfrm>
          <a:prstGeom prst="roundRect">
            <a:avLst>
              <a:gd name="adj" fmla="val 16667"/>
            </a:avLst>
          </a:prstGeom>
          <a:solidFill>
            <a:srgbClr val="EBEFF4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34;p12">
            <a:extLst>
              <a:ext uri="{FF2B5EF4-FFF2-40B4-BE49-F238E27FC236}">
                <a16:creationId xmlns:a16="http://schemas.microsoft.com/office/drawing/2014/main" id="{E745E3F1-4F8C-D385-9C52-6D01C1E68D97}"/>
              </a:ext>
            </a:extLst>
          </p:cNvPr>
          <p:cNvSpPr txBox="1"/>
          <p:nvPr/>
        </p:nvSpPr>
        <p:spPr>
          <a:xfrm>
            <a:off x="997530" y="593663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operation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802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9"/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FORWARD PASS</a:t>
            </a:r>
            <a:endParaRPr/>
          </a:p>
        </p:txBody>
      </p:sp>
      <p:sp>
        <p:nvSpPr>
          <p:cNvPr id="370" name="Google Shape;370;p19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The graph is a DAG</a:t>
            </a:r>
            <a:endParaRPr/>
          </a:p>
        </p:txBody>
      </p:sp>
      <p:sp>
        <p:nvSpPr>
          <p:cNvPr id="371" name="Google Shape;371;p19"/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19"/>
          <p:cNvCxnSpPr/>
          <p:nvPr/>
        </p:nvCxnSpPr>
        <p:spPr>
          <a:xfrm>
            <a:off x="1197864" y="2203704"/>
            <a:ext cx="1325880" cy="1234440"/>
          </a:xfrm>
          <a:prstGeom prst="straightConnector1">
            <a:avLst/>
          </a:prstGeom>
          <a:noFill/>
          <a:ln w="20300" cap="flat" cmpd="sng">
            <a:solidFill>
              <a:srgbClr val="96A1B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4" name="Google Shape;374;p19"/>
          <p:cNvCxnSpPr/>
          <p:nvPr/>
        </p:nvCxnSpPr>
        <p:spPr>
          <a:xfrm>
            <a:off x="1197864" y="2203704"/>
            <a:ext cx="5486400" cy="1234440"/>
          </a:xfrm>
          <a:prstGeom prst="straightConnector1">
            <a:avLst/>
          </a:prstGeom>
          <a:noFill/>
          <a:ln w="20300" cap="flat" cmpd="sng">
            <a:solidFill>
              <a:srgbClr val="96A1B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5" name="Google Shape;375;p19"/>
          <p:cNvCxnSpPr/>
          <p:nvPr/>
        </p:nvCxnSpPr>
        <p:spPr>
          <a:xfrm flipH="1">
            <a:off x="2523744" y="2203704"/>
            <a:ext cx="1417319" cy="1234440"/>
          </a:xfrm>
          <a:prstGeom prst="straightConnector1">
            <a:avLst/>
          </a:prstGeom>
          <a:noFill/>
          <a:ln w="20300" cap="flat" cmpd="sng">
            <a:solidFill>
              <a:srgbClr val="96A1B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6" name="Google Shape;376;p19"/>
          <p:cNvCxnSpPr/>
          <p:nvPr/>
        </p:nvCxnSpPr>
        <p:spPr>
          <a:xfrm flipH="1">
            <a:off x="4809744" y="2203704"/>
            <a:ext cx="1874520" cy="1234440"/>
          </a:xfrm>
          <a:prstGeom prst="straightConnector1">
            <a:avLst/>
          </a:prstGeom>
          <a:noFill/>
          <a:ln w="20300" cap="flat" cmpd="sng">
            <a:solidFill>
              <a:srgbClr val="96A1B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7" name="Google Shape;377;p19"/>
          <p:cNvCxnSpPr/>
          <p:nvPr/>
        </p:nvCxnSpPr>
        <p:spPr>
          <a:xfrm>
            <a:off x="6684264" y="2203704"/>
            <a:ext cx="0" cy="1234440"/>
          </a:xfrm>
          <a:prstGeom prst="straightConnector1">
            <a:avLst/>
          </a:prstGeom>
          <a:noFill/>
          <a:ln w="20300" cap="flat" cmpd="sng">
            <a:solidFill>
              <a:srgbClr val="96A1B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8" name="Google Shape;378;p19"/>
          <p:cNvCxnSpPr/>
          <p:nvPr/>
        </p:nvCxnSpPr>
        <p:spPr>
          <a:xfrm>
            <a:off x="2523744" y="3438144"/>
            <a:ext cx="2286000" cy="0"/>
          </a:xfrm>
          <a:prstGeom prst="straightConnector1">
            <a:avLst/>
          </a:prstGeom>
          <a:noFill/>
          <a:ln w="20300" cap="flat" cmpd="sng">
            <a:solidFill>
              <a:srgbClr val="96A1B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9" name="Google Shape;379;p19"/>
          <p:cNvCxnSpPr/>
          <p:nvPr/>
        </p:nvCxnSpPr>
        <p:spPr>
          <a:xfrm rot="10800000">
            <a:off x="4809744" y="3438144"/>
            <a:ext cx="1874520" cy="0"/>
          </a:xfrm>
          <a:prstGeom prst="straightConnector1">
            <a:avLst/>
          </a:prstGeom>
          <a:noFill/>
          <a:ln w="20300" cap="flat" cmpd="sng">
            <a:solidFill>
              <a:srgbClr val="96A1B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80" name="Google Shape;380;p19"/>
          <p:cNvCxnSpPr/>
          <p:nvPr/>
        </p:nvCxnSpPr>
        <p:spPr>
          <a:xfrm flipH="1">
            <a:off x="4581144" y="3438144"/>
            <a:ext cx="228600" cy="1417320"/>
          </a:xfrm>
          <a:prstGeom prst="straightConnector1">
            <a:avLst/>
          </a:prstGeom>
          <a:noFill/>
          <a:ln w="20300" cap="flat" cmpd="sng">
            <a:solidFill>
              <a:srgbClr val="96A1B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81" name="Google Shape;381;p19"/>
          <p:cNvSpPr/>
          <p:nvPr/>
        </p:nvSpPr>
        <p:spPr>
          <a:xfrm>
            <a:off x="914400" y="1920240"/>
            <a:ext cx="566928" cy="566928"/>
          </a:xfrm>
          <a:prstGeom prst="ellipse">
            <a:avLst/>
          </a:prstGeom>
          <a:solidFill>
            <a:srgbClr val="4775D6"/>
          </a:solidFill>
          <a:ln w="9525" cap="flat" cmpd="sng">
            <a:solidFill>
              <a:srgbClr val="4775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3657600" y="1920240"/>
            <a:ext cx="566928" cy="566928"/>
          </a:xfrm>
          <a:prstGeom prst="ellipse">
            <a:avLst/>
          </a:prstGeom>
          <a:solidFill>
            <a:srgbClr val="2CA094"/>
          </a:solidFill>
          <a:ln w="9525" cap="flat" cmpd="sng">
            <a:solidFill>
              <a:srgbClr val="2CA09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6400800" y="1920240"/>
            <a:ext cx="566928" cy="566928"/>
          </a:xfrm>
          <a:prstGeom prst="ellipse">
            <a:avLst/>
          </a:prstGeom>
          <a:solidFill>
            <a:srgbClr val="815BB3"/>
          </a:solidFill>
          <a:ln w="9525" cap="flat" cmpd="sng">
            <a:solidFill>
              <a:srgbClr val="815BB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2240280" y="3154680"/>
            <a:ext cx="566928" cy="566928"/>
          </a:xfrm>
          <a:prstGeom prst="ellipse">
            <a:avLst/>
          </a:prstGeom>
          <a:solidFill>
            <a:srgbClr val="F48543"/>
          </a:solidFill>
          <a:ln w="9525" cap="flat" cmpd="sng">
            <a:solidFill>
              <a:srgbClr val="F485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4526280" y="3154680"/>
            <a:ext cx="566928" cy="566928"/>
          </a:xfrm>
          <a:prstGeom prst="ellipse">
            <a:avLst/>
          </a:prstGeom>
          <a:solidFill>
            <a:srgbClr val="F48543"/>
          </a:solidFill>
          <a:ln w="9525" cap="flat" cmpd="sng">
            <a:solidFill>
              <a:srgbClr val="F485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86" name="Google Shape;386;p19"/>
          <p:cNvSpPr/>
          <p:nvPr/>
        </p:nvSpPr>
        <p:spPr>
          <a:xfrm>
            <a:off x="6400800" y="3154680"/>
            <a:ext cx="566928" cy="566928"/>
          </a:xfrm>
          <a:prstGeom prst="ellipse">
            <a:avLst/>
          </a:prstGeom>
          <a:solidFill>
            <a:srgbClr val="F48543"/>
          </a:solidFill>
          <a:ln w="9525" cap="flat" cmpd="sng">
            <a:solidFill>
              <a:srgbClr val="F485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×2</a:t>
            </a:r>
            <a:endParaRPr/>
          </a:p>
        </p:txBody>
      </p:sp>
      <p:sp>
        <p:nvSpPr>
          <p:cNvPr id="387" name="Google Shape;387;p19"/>
          <p:cNvSpPr/>
          <p:nvPr/>
        </p:nvSpPr>
        <p:spPr>
          <a:xfrm>
            <a:off x="4297680" y="4572000"/>
            <a:ext cx="566928" cy="566928"/>
          </a:xfrm>
          <a:prstGeom prst="ellipse">
            <a:avLst/>
          </a:prstGeom>
          <a:solidFill>
            <a:srgbClr val="815BB3"/>
          </a:solidFill>
          <a:ln w="9525" cap="flat" cmpd="sng">
            <a:solidFill>
              <a:srgbClr val="815BB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388" name="Google Shape;388;p19"/>
          <p:cNvSpPr/>
          <p:nvPr/>
        </p:nvSpPr>
        <p:spPr>
          <a:xfrm>
            <a:off x="7909560" y="2423160"/>
            <a:ext cx="3200400" cy="868680"/>
          </a:xfrm>
          <a:prstGeom prst="roundRect">
            <a:avLst>
              <a:gd name="adj" fmla="val 16667"/>
            </a:avLst>
          </a:prstGeom>
          <a:solidFill>
            <a:srgbClr val="FFECDE"/>
          </a:solidFill>
          <a:ln w="9525" cap="flat" cmpd="sng">
            <a:solidFill>
              <a:srgbClr val="FFEC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 txBox="1"/>
          <p:nvPr/>
        </p:nvSpPr>
        <p:spPr>
          <a:xfrm>
            <a:off x="8074152" y="2514600"/>
            <a:ext cx="287121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Directed + acyclic + shared dependencies</a:t>
            </a:r>
            <a:endParaRPr/>
          </a:p>
        </p:txBody>
      </p:sp>
      <p:sp>
        <p:nvSpPr>
          <p:cNvPr id="390" name="Google Shape;390;p19"/>
          <p:cNvSpPr txBox="1"/>
          <p:nvPr/>
        </p:nvSpPr>
        <p:spPr>
          <a:xfrm>
            <a:off x="7909560" y="370332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A node can feed multiple downstream operations.</a:t>
            </a:r>
            <a:endParaRPr/>
          </a:p>
        </p:txBody>
      </p:sp>
      <p:sp>
        <p:nvSpPr>
          <p:cNvPr id="393" name="Google Shape;393;p19"/>
          <p:cNvSpPr txBox="1"/>
          <p:nvPr/>
        </p:nvSpPr>
        <p:spPr>
          <a:xfrm>
            <a:off x="9802368" y="393192"/>
            <a:ext cx="16093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"/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FORWARD PASS</a:t>
            </a:r>
            <a:endParaRPr/>
          </a:p>
        </p:txBody>
      </p:sp>
      <p:sp>
        <p:nvSpPr>
          <p:cNvPr id="400" name="Google Shape;400;p20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Visualize the graph</a:t>
            </a:r>
            <a:endParaRPr/>
          </a:p>
        </p:txBody>
      </p:sp>
      <p:sp>
        <p:nvSpPr>
          <p:cNvPr id="401" name="Google Shape;401;p20"/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 txBox="1"/>
          <p:nvPr/>
        </p:nvSpPr>
        <p:spPr>
          <a:xfrm>
            <a:off x="8732520" y="20574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draw_graph(c)</a:t>
            </a: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8778240" y="3886200"/>
            <a:ext cx="2194560" cy="594360"/>
          </a:xfrm>
          <a:prstGeom prst="roundRect">
            <a:avLst>
              <a:gd name="adj" fmla="val 16667"/>
            </a:avLst>
          </a:prstGeom>
          <a:solidFill>
            <a:srgbClr val="E0F4F1"/>
          </a:solidFill>
          <a:ln w="9525" cap="flat" cmpd="sng">
            <a:solidFill>
              <a:srgbClr val="E0F4F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 txBox="1"/>
          <p:nvPr/>
        </p:nvSpPr>
        <p:spPr>
          <a:xfrm>
            <a:off x="8942832" y="3977639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9738360" y="320040"/>
            <a:ext cx="1737360" cy="384048"/>
          </a:xfrm>
          <a:prstGeom prst="roundRect">
            <a:avLst>
              <a:gd name="adj" fmla="val 16667"/>
            </a:avLst>
          </a:prstGeom>
          <a:solidFill>
            <a:srgbClr val="F48543"/>
          </a:solidFill>
          <a:ln w="9525" cap="flat" cmpd="sng">
            <a:solidFill>
              <a:srgbClr val="F485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9802368" y="393192"/>
            <a:ext cx="16093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062660-5769-1DFC-2BCE-8873FA1A6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663440"/>
            <a:ext cx="2194560" cy="2194560"/>
          </a:xfrm>
          <a:prstGeom prst="rect">
            <a:avLst/>
          </a:prstGeom>
        </p:spPr>
      </p:pic>
      <p:pic>
        <p:nvPicPr>
          <p:cNvPr id="7" name="Picture 6" descr="Smile">
            <a:extLst>
              <a:ext uri="{FF2B5EF4-FFF2-40B4-BE49-F238E27FC236}">
                <a16:creationId xmlns:a16="http://schemas.microsoft.com/office/drawing/2014/main" id="{FAD2BC71-1EFF-9281-04FD-05A82CEB8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246" y="3273997"/>
            <a:ext cx="317500" cy="31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4B50B8-F187-0821-E13F-AB6227D7B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76" y="2081237"/>
            <a:ext cx="7772400" cy="27384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6C24895B-B390-D533-8443-5BF1F78DD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>
            <a:extLst>
              <a:ext uri="{FF2B5EF4-FFF2-40B4-BE49-F238E27FC236}">
                <a16:creationId xmlns:a16="http://schemas.microsoft.com/office/drawing/2014/main" id="{7D632310-243B-82AC-EB79-EFF57D1503D7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lvl="0"/>
            <a:r>
              <a:rPr lang="en-US" sz="40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Let’s move to the branch: </a:t>
            </a:r>
            <a:r>
              <a:rPr lang="en-GB" sz="2800" b="1">
                <a:solidFill>
                  <a:schemeClr val="bg2"/>
                </a:solidFill>
              </a:rPr>
              <a:t>feat/03-scalar-autograd</a:t>
            </a:r>
            <a:endParaRPr sz="2000">
              <a:solidFill>
                <a:schemeClr val="bg2"/>
              </a:solidFill>
            </a:endParaRPr>
          </a:p>
        </p:txBody>
      </p:sp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95E9F8BA-E1B2-9577-D8AA-731F3254C903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89CE99-DE25-7BFA-F02A-E3A4DDC71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0" y="3429000"/>
            <a:ext cx="26035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9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4"/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BACKWARD PASS</a:t>
            </a:r>
            <a:endParaRPr/>
          </a:p>
        </p:txBody>
      </p:sp>
      <p:sp>
        <p:nvSpPr>
          <p:cNvPr id="498" name="Google Shape;498;p24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Forward vs. backward</a:t>
            </a:r>
            <a:endParaRPr/>
          </a:p>
        </p:txBody>
      </p:sp>
      <p:sp>
        <p:nvSpPr>
          <p:cNvPr id="499" name="Google Shape;499;p24"/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4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D8999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501" name="Google Shape;501;p24"/>
          <p:cNvSpPr txBox="1"/>
          <p:nvPr/>
        </p:nvSpPr>
        <p:spPr>
          <a:xfrm>
            <a:off x="960120" y="17373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FORWARD</a:t>
            </a:r>
            <a:endParaRPr/>
          </a:p>
        </p:txBody>
      </p:sp>
      <p:sp>
        <p:nvSpPr>
          <p:cNvPr id="502" name="Google Shape;502;p24"/>
          <p:cNvSpPr/>
          <p:nvPr/>
        </p:nvSpPr>
        <p:spPr>
          <a:xfrm>
            <a:off x="914400" y="2286000"/>
            <a:ext cx="12344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4"/>
          <p:cNvSpPr txBox="1"/>
          <p:nvPr/>
        </p:nvSpPr>
        <p:spPr>
          <a:xfrm>
            <a:off x="950976" y="2478024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inputs</a:t>
            </a:r>
            <a:endParaRPr/>
          </a:p>
        </p:txBody>
      </p:sp>
      <p:cxnSp>
        <p:nvCxnSpPr>
          <p:cNvPr id="504" name="Google Shape;504;p24"/>
          <p:cNvCxnSpPr/>
          <p:nvPr/>
        </p:nvCxnSpPr>
        <p:spPr>
          <a:xfrm>
            <a:off x="2176272" y="2615184"/>
            <a:ext cx="292608" cy="0"/>
          </a:xfrm>
          <a:prstGeom prst="straightConnector1">
            <a:avLst/>
          </a:prstGeom>
          <a:noFill/>
          <a:ln w="25400" cap="flat" cmpd="sng">
            <a:solidFill>
              <a:srgbClr val="2CA09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505" name="Google Shape;505;p24"/>
          <p:cNvSpPr/>
          <p:nvPr/>
        </p:nvSpPr>
        <p:spPr>
          <a:xfrm>
            <a:off x="2514600" y="2286000"/>
            <a:ext cx="12344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4"/>
          <p:cNvSpPr txBox="1"/>
          <p:nvPr/>
        </p:nvSpPr>
        <p:spPr>
          <a:xfrm>
            <a:off x="2551176" y="2478024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operations</a:t>
            </a:r>
            <a:endParaRPr/>
          </a:p>
        </p:txBody>
      </p:sp>
      <p:cxnSp>
        <p:nvCxnSpPr>
          <p:cNvPr id="507" name="Google Shape;507;p24"/>
          <p:cNvCxnSpPr/>
          <p:nvPr/>
        </p:nvCxnSpPr>
        <p:spPr>
          <a:xfrm>
            <a:off x="3776472" y="2615184"/>
            <a:ext cx="292608" cy="0"/>
          </a:xfrm>
          <a:prstGeom prst="straightConnector1">
            <a:avLst/>
          </a:prstGeom>
          <a:noFill/>
          <a:ln w="25400" cap="flat" cmpd="sng">
            <a:solidFill>
              <a:srgbClr val="2CA09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508" name="Google Shape;508;p24"/>
          <p:cNvSpPr/>
          <p:nvPr/>
        </p:nvSpPr>
        <p:spPr>
          <a:xfrm>
            <a:off x="4114800" y="2286000"/>
            <a:ext cx="12344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4"/>
          <p:cNvSpPr txBox="1"/>
          <p:nvPr/>
        </p:nvSpPr>
        <p:spPr>
          <a:xfrm>
            <a:off x="4151376" y="2478024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loss</a:t>
            </a:r>
            <a:endParaRPr/>
          </a:p>
        </p:txBody>
      </p:sp>
      <p:sp>
        <p:nvSpPr>
          <p:cNvPr id="510" name="Google Shape;510;p24"/>
          <p:cNvSpPr txBox="1"/>
          <p:nvPr/>
        </p:nvSpPr>
        <p:spPr>
          <a:xfrm>
            <a:off x="960120" y="37947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8543"/>
                </a:solidFill>
                <a:latin typeface="Arial"/>
                <a:ea typeface="Arial"/>
                <a:cs typeface="Arial"/>
                <a:sym typeface="Arial"/>
              </a:rPr>
              <a:t>BACKWARD</a:t>
            </a:r>
            <a:endParaRPr/>
          </a:p>
        </p:txBody>
      </p:sp>
      <p:sp>
        <p:nvSpPr>
          <p:cNvPr id="511" name="Google Shape;511;p24"/>
          <p:cNvSpPr/>
          <p:nvPr/>
        </p:nvSpPr>
        <p:spPr>
          <a:xfrm>
            <a:off x="914400" y="4343400"/>
            <a:ext cx="12344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4"/>
          <p:cNvSpPr txBox="1"/>
          <p:nvPr/>
        </p:nvSpPr>
        <p:spPr>
          <a:xfrm>
            <a:off x="950976" y="4535424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endParaRPr/>
          </a:p>
        </p:txBody>
      </p:sp>
      <p:cxnSp>
        <p:nvCxnSpPr>
          <p:cNvPr id="513" name="Google Shape;513;p24"/>
          <p:cNvCxnSpPr/>
          <p:nvPr/>
        </p:nvCxnSpPr>
        <p:spPr>
          <a:xfrm>
            <a:off x="2176272" y="4672584"/>
            <a:ext cx="292608" cy="0"/>
          </a:xfrm>
          <a:prstGeom prst="straightConnector1">
            <a:avLst/>
          </a:prstGeom>
          <a:noFill/>
          <a:ln w="25400" cap="flat" cmpd="sng">
            <a:solidFill>
              <a:srgbClr val="F485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514" name="Google Shape;514;p24"/>
          <p:cNvSpPr/>
          <p:nvPr/>
        </p:nvSpPr>
        <p:spPr>
          <a:xfrm>
            <a:off x="2514600" y="4343400"/>
            <a:ext cx="12344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4"/>
          <p:cNvSpPr txBox="1"/>
          <p:nvPr/>
        </p:nvSpPr>
        <p:spPr>
          <a:xfrm>
            <a:off x="2551176" y="4535424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operations</a:t>
            </a:r>
            <a:endParaRPr/>
          </a:p>
        </p:txBody>
      </p:sp>
      <p:cxnSp>
        <p:nvCxnSpPr>
          <p:cNvPr id="516" name="Google Shape;516;p24"/>
          <p:cNvCxnSpPr/>
          <p:nvPr/>
        </p:nvCxnSpPr>
        <p:spPr>
          <a:xfrm>
            <a:off x="3776472" y="4672584"/>
            <a:ext cx="292608" cy="0"/>
          </a:xfrm>
          <a:prstGeom prst="straightConnector1">
            <a:avLst/>
          </a:prstGeom>
          <a:noFill/>
          <a:ln w="25400" cap="flat" cmpd="sng">
            <a:solidFill>
              <a:srgbClr val="F485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517" name="Google Shape;517;p24"/>
          <p:cNvSpPr/>
          <p:nvPr/>
        </p:nvSpPr>
        <p:spPr>
          <a:xfrm>
            <a:off x="4114800" y="4343400"/>
            <a:ext cx="12344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4"/>
          <p:cNvSpPr txBox="1"/>
          <p:nvPr/>
        </p:nvSpPr>
        <p:spPr>
          <a:xfrm>
            <a:off x="4151376" y="4535424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inputs</a:t>
            </a:r>
            <a:endParaRPr/>
          </a:p>
        </p:txBody>
      </p:sp>
      <p:sp>
        <p:nvSpPr>
          <p:cNvPr id="519" name="Google Shape;519;p24"/>
          <p:cNvSpPr/>
          <p:nvPr/>
        </p:nvSpPr>
        <p:spPr>
          <a:xfrm>
            <a:off x="6419850" y="1462278"/>
            <a:ext cx="4572000" cy="1508760"/>
          </a:xfrm>
          <a:prstGeom prst="roundRect">
            <a:avLst>
              <a:gd name="adj" fmla="val 16667"/>
            </a:avLst>
          </a:prstGeom>
          <a:solidFill>
            <a:srgbClr val="E0F4F1"/>
          </a:solidFill>
          <a:ln w="9525" cap="flat" cmpd="sng">
            <a:solidFill>
              <a:srgbClr val="E0F4F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4"/>
          <p:cNvSpPr txBox="1"/>
          <p:nvPr/>
        </p:nvSpPr>
        <p:spPr>
          <a:xfrm>
            <a:off x="6584442" y="1553718"/>
            <a:ext cx="4242816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Forward: “what is the value?”</a:t>
            </a:r>
            <a:br>
              <a:rPr lang="en-US" sz="1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Backward: “how sensitive is the loss?”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374A7E-9A8A-C2F7-AEFF-D0D58518E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762" y="3243834"/>
            <a:ext cx="2857500" cy="2857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4510D5-1862-ECBA-2BB5-18008972412F}"/>
              </a:ext>
            </a:extLst>
          </p:cNvPr>
          <p:cNvSpPr txBox="1"/>
          <p:nvPr/>
        </p:nvSpPr>
        <p:spPr>
          <a:xfrm>
            <a:off x="7197213" y="6150889"/>
            <a:ext cx="5979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/>
              <a:t>Calculus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FA4E906-A83F-8699-0465-942DD82A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4">
            <a:extLst>
              <a:ext uri="{FF2B5EF4-FFF2-40B4-BE49-F238E27FC236}">
                <a16:creationId xmlns:a16="http://schemas.microsoft.com/office/drawing/2014/main" id="{8BF9B60E-5CD3-B7C1-DAA9-0BC4E063F62F}"/>
              </a:ext>
            </a:extLst>
          </p:cNvPr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BACKWARD PASS</a:t>
            </a:r>
            <a:endParaRPr/>
          </a:p>
        </p:txBody>
      </p:sp>
      <p:sp>
        <p:nvSpPr>
          <p:cNvPr id="498" name="Google Shape;498;p24">
            <a:extLst>
              <a:ext uri="{FF2B5EF4-FFF2-40B4-BE49-F238E27FC236}">
                <a16:creationId xmlns:a16="http://schemas.microsoft.com/office/drawing/2014/main" id="{C68DE2A9-D593-B983-1608-B56ADA690EE7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lvl="0"/>
            <a:r>
              <a:rPr lang="en-PL" sz="3200"/>
              <a:t>The Multivariate Chain Rule</a:t>
            </a:r>
            <a:endParaRPr/>
          </a:p>
        </p:txBody>
      </p:sp>
      <p:sp>
        <p:nvSpPr>
          <p:cNvPr id="499" name="Google Shape;499;p24">
            <a:extLst>
              <a:ext uri="{FF2B5EF4-FFF2-40B4-BE49-F238E27FC236}">
                <a16:creationId xmlns:a16="http://schemas.microsoft.com/office/drawing/2014/main" id="{039B1D6D-50D5-98F9-20DA-77DD7B78D637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832ED3-931B-A2D5-9626-85E5E683E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700" y="1449324"/>
            <a:ext cx="6121400" cy="4457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A0B75B-B30D-041F-3031-070B46F6DBBE}"/>
              </a:ext>
            </a:extLst>
          </p:cNvPr>
          <p:cNvSpPr txBox="1"/>
          <p:nvPr/>
        </p:nvSpPr>
        <p:spPr>
          <a:xfrm>
            <a:off x="465185" y="1522734"/>
            <a:ext cx="60981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PL" sz="1400" b="0" i="1">
                <a:solidFill>
                  <a:srgbClr val="000000"/>
                </a:solidFill>
                <a:effectLst/>
                <a:latin typeface="Arial"/>
              </a:rPr>
              <a:t>How gradients flow from multiple downstream children back to a variable</a:t>
            </a:r>
            <a:endParaRPr lang="en-PL" sz="1400" b="0" i="0">
              <a:solidFill>
                <a:srgbClr val="000000"/>
              </a:solidFill>
              <a:effectLst/>
              <a:latin typeface="Arial"/>
            </a:endParaRPr>
          </a:p>
          <a:p>
            <a:pPr>
              <a:buNone/>
            </a:pPr>
            <a:br>
              <a:rPr lang="en-PL"/>
            </a:br>
            <a:endParaRPr lang="en-P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D7EBDF-776D-DC7B-DD2D-7920D8BC78C0}"/>
                  </a:ext>
                </a:extLst>
              </p:cNvPr>
              <p:cNvSpPr txBox="1"/>
              <p:nvPr/>
            </p:nvSpPr>
            <p:spPr>
              <a:xfrm>
                <a:off x="-621406" y="1853626"/>
                <a:ext cx="6098146" cy="8155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PL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en-PL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PL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PL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en-PL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PL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lang="en-PL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supHide m:val="on"/>
                                <m:ctrlPr>
                                  <a:rPr lang="en-PL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PL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PL" i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m:rPr>
                                    <m:sty m:val="p"/>
                                  </m:rPr>
                                  <a:rPr lang="en-PL" b="0" i="1">
                                    <a:latin typeface="Cambria Math" panose="02040503050406030204" pitchFamily="18" charset="0"/>
                                  </a:rPr>
                                  <m:t>children</m:t>
                                </m:r>
                                <m:d>
                                  <m:dPr>
                                    <m:ctrlPr>
                                      <a:rPr lang="en-PL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L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sub>
                              <m:sup/>
                              <m:e>
                                <m:f>
                                  <m:fPr>
                                    <m:ctrlPr>
                                      <a:rPr lang="en-PL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L" b="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PL" b="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PL" b="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PL" b="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</m:nary>
                            <m:r>
                              <a:rPr lang="en-PL" b="0" i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ctrlPr>
                                  <a:rPr lang="en-PL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PL" b="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PL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PL" b="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PL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PL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D7EBDF-776D-DC7B-DD2D-7920D8BC7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1406" y="1853626"/>
                <a:ext cx="6098146" cy="815544"/>
              </a:xfrm>
              <a:prstGeom prst="rect">
                <a:avLst/>
              </a:prstGeom>
              <a:blipFill>
                <a:blip r:embed="rId4"/>
                <a:stretch>
                  <a:fillRect t="-137879" b="-189394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C135826C-6166-8EA5-B69C-879B2D2EA2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4086098"/>
                  </p:ext>
                </p:extLst>
              </p:nvPr>
            </p:nvGraphicFramePr>
            <p:xfrm>
              <a:off x="465185" y="2977524"/>
              <a:ext cx="5261019" cy="29260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753673">
                      <a:extLst>
                        <a:ext uri="{9D8B030D-6E8A-4147-A177-3AD203B41FA5}">
                          <a16:colId xmlns:a16="http://schemas.microsoft.com/office/drawing/2014/main" val="70632553"/>
                        </a:ext>
                      </a:extLst>
                    </a:gridCol>
                    <a:gridCol w="1753673">
                      <a:extLst>
                        <a:ext uri="{9D8B030D-6E8A-4147-A177-3AD203B41FA5}">
                          <a16:colId xmlns:a16="http://schemas.microsoft.com/office/drawing/2014/main" val="120565587"/>
                        </a:ext>
                      </a:extLst>
                    </a:gridCol>
                    <a:gridCol w="1753673">
                      <a:extLst>
                        <a:ext uri="{9D8B030D-6E8A-4147-A177-3AD203B41FA5}">
                          <a16:colId xmlns:a16="http://schemas.microsoft.com/office/drawing/2014/main" val="3930543412"/>
                        </a:ext>
                      </a:extLst>
                    </a:gridCol>
                  </a:tblGrid>
                  <a:tr h="20510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>
                              <a:effectLst/>
                            </a:rPr>
                            <a:t>Term</a:t>
                          </a:r>
                          <a:endParaRPr lang="en-P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>
                              <a:effectLst/>
                            </a:rPr>
                            <a:t>Role</a:t>
                          </a:r>
                          <a:endParaRPr lang="en-P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>
                              <a:effectLst/>
                            </a:rPr>
                            <a:t>Engine Implementation</a:t>
                          </a:r>
                          <a:endParaRPr lang="en-P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1536184"/>
                      </a:ext>
                    </a:extLst>
                  </a:tr>
                  <a:tr h="34867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L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num>
                                        <m:den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den>
                                      </m:f>
                                    </m:e>
                                  </m:mr>
                                </m:m>
                              </m:oMath>
                            </m:oMathPara>
                          </a14:m>
                          <a:endParaRPr lang="en-P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>
                              <a:effectLst/>
                            </a:rPr>
                            <a:t>Upstream Gradient</a:t>
                          </a:r>
                          <a:endParaRPr lang="en-P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/>
                            <a:t>Arrives from downstream, stored in </a:t>
                          </a:r>
                          <a:r>
                            <a:rPr lang="en-PL">
                              <a:effectLst/>
                            </a:rPr>
                            <a:t> </a:t>
                          </a:r>
                          <a:r>
                            <a:rPr lang="en-PL"/>
                            <a:t>child.grad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7128738"/>
                      </a:ext>
                    </a:extLst>
                  </a:tr>
                  <a:tr h="34867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L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den>
                                      </m:f>
                                    </m:e>
                                  </m:mr>
                                </m:m>
                              </m:oMath>
                            </m:oMathPara>
                          </a14:m>
                          <a:endParaRPr lang="en-P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>
                              <a:effectLst/>
                            </a:rPr>
                            <a:t>Local Derivative</a:t>
                          </a:r>
                          <a:endParaRPr lang="en-P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>
                              <a:effectLst/>
                            </a:rPr>
                            <a:t>Evaluated by the local operation primitive</a:t>
                          </a:r>
                          <a:endParaRPr lang="en-P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84174461"/>
                      </a:ext>
                    </a:extLst>
                  </a:tr>
                  <a:tr h="34867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L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PL"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</m:mr>
                                </m:m>
                              </m:oMath>
                            </m:oMathPara>
                          </a14:m>
                          <a:endParaRPr lang="en-P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>
                              <a:effectLst/>
                            </a:rPr>
                            <a:t>Path Accumulation</a:t>
                          </a:r>
                          <a:endParaRPr lang="en-P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/>
                            <a:t>Sum over all branches where x was reused (➔ </a:t>
                          </a:r>
                          <a:r>
                            <a:rPr lang="en-PL">
                              <a:effectLst/>
                            </a:rPr>
                            <a:t> </a:t>
                          </a:r>
                          <a:r>
                            <a:rPr lang="en-PL"/>
                            <a:t>+=</a:t>
                          </a:r>
                          <a:r>
                            <a:rPr lang="en-PL">
                              <a:effectLst/>
                            </a:rPr>
                            <a:t> </a:t>
                          </a:r>
                          <a:r>
                            <a:rPr lang="en-PL"/>
                            <a:t> in code!)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42606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C135826C-6166-8EA5-B69C-879B2D2EA2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4086098"/>
                  </p:ext>
                </p:extLst>
              </p:nvPr>
            </p:nvGraphicFramePr>
            <p:xfrm>
              <a:off x="465185" y="2977524"/>
              <a:ext cx="5261019" cy="29260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753673">
                      <a:extLst>
                        <a:ext uri="{9D8B030D-6E8A-4147-A177-3AD203B41FA5}">
                          <a16:colId xmlns:a16="http://schemas.microsoft.com/office/drawing/2014/main" val="70632553"/>
                        </a:ext>
                      </a:extLst>
                    </a:gridCol>
                    <a:gridCol w="1753673">
                      <a:extLst>
                        <a:ext uri="{9D8B030D-6E8A-4147-A177-3AD203B41FA5}">
                          <a16:colId xmlns:a16="http://schemas.microsoft.com/office/drawing/2014/main" val="120565587"/>
                        </a:ext>
                      </a:extLst>
                    </a:gridCol>
                    <a:gridCol w="1753673">
                      <a:extLst>
                        <a:ext uri="{9D8B030D-6E8A-4147-A177-3AD203B41FA5}">
                          <a16:colId xmlns:a16="http://schemas.microsoft.com/office/drawing/2014/main" val="3930543412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>
                              <a:effectLst/>
                            </a:rPr>
                            <a:t>Term</a:t>
                          </a:r>
                          <a:endParaRPr lang="en-P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>
                              <a:effectLst/>
                            </a:rPr>
                            <a:t>Role</a:t>
                          </a:r>
                          <a:endParaRPr lang="en-P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>
                              <a:effectLst/>
                            </a:rPr>
                            <a:t>Engine Implementation</a:t>
                          </a:r>
                          <a:endParaRPr lang="en-P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1536184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PL"/>
                        </a:p>
                      </a:txBody>
                      <a:tcPr anchor="ctr">
                        <a:blipFill>
                          <a:blip r:embed="rId5"/>
                          <a:stretch>
                            <a:fillRect t="-72414" r="-202174" b="-236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>
                              <a:effectLst/>
                            </a:rPr>
                            <a:t>Upstream Gradient</a:t>
                          </a:r>
                          <a:endParaRPr lang="en-P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/>
                            <a:t>Arrives from downstream, stored in </a:t>
                          </a:r>
                          <a:r>
                            <a:rPr lang="en-PL">
                              <a:effectLst/>
                            </a:rPr>
                            <a:t> </a:t>
                          </a:r>
                          <a:r>
                            <a:rPr lang="en-PL"/>
                            <a:t>child.grad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7128738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PL"/>
                        </a:p>
                      </a:txBody>
                      <a:tcPr anchor="ctr">
                        <a:blipFill>
                          <a:blip r:embed="rId5"/>
                          <a:stretch>
                            <a:fillRect t="-175439" r="-202174" b="-14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>
                              <a:effectLst/>
                            </a:rPr>
                            <a:t>Local Derivative</a:t>
                          </a:r>
                          <a:endParaRPr lang="en-P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>
                              <a:effectLst/>
                            </a:rPr>
                            <a:t>Evaluated by the local operation primitive</a:t>
                          </a:r>
                          <a:endParaRPr lang="en-P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84174461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endParaRPr lang="en-PL"/>
                        </a:p>
                      </a:txBody>
                      <a:tcPr anchor="ctr">
                        <a:blipFill>
                          <a:blip r:embed="rId5"/>
                          <a:stretch>
                            <a:fillRect t="-209333" r="-202174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>
                              <a:effectLst/>
                            </a:rPr>
                            <a:t>Path Accumulation</a:t>
                          </a:r>
                          <a:endParaRPr lang="en-P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L"/>
                            <a:t>Sum over all branches where x was reused (➔ </a:t>
                          </a:r>
                          <a:r>
                            <a:rPr lang="en-PL">
                              <a:effectLst/>
                            </a:rPr>
                            <a:t> </a:t>
                          </a:r>
                          <a:r>
                            <a:rPr lang="en-PL"/>
                            <a:t>+=</a:t>
                          </a:r>
                          <a:r>
                            <a:rPr lang="en-PL">
                              <a:effectLst/>
                            </a:rPr>
                            <a:t> </a:t>
                          </a:r>
                          <a:r>
                            <a:rPr lang="en-PL"/>
                            <a:t> in code!)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42606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D0AEDA4-72D8-7DC6-FC50-37C7F953F298}"/>
              </a:ext>
            </a:extLst>
          </p:cNvPr>
          <p:cNvSpPr txBox="1"/>
          <p:nvPr/>
        </p:nvSpPr>
        <p:spPr>
          <a:xfrm>
            <a:off x="504301" y="6096510"/>
            <a:ext cx="10700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L">
                <a:effectLst/>
              </a:rPr>
              <a:t>Every backpropagation step reduces to three simple actions: Receive upstream gradient → multiply by local derivative → accumulate (+=) across all downstream paths.</a:t>
            </a:r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455712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5"/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BACKWARD PASS</a:t>
            </a:r>
            <a:endParaRPr/>
          </a:p>
        </p:txBody>
      </p:sp>
      <p:sp>
        <p:nvSpPr>
          <p:cNvPr id="527" name="Google Shape;527;p25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Start at the loss</a:t>
            </a:r>
            <a:endParaRPr/>
          </a:p>
        </p:txBody>
      </p:sp>
      <p:sp>
        <p:nvSpPr>
          <p:cNvPr id="528" name="Google Shape;528;p25"/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D8999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  <p:sp>
        <p:nvSpPr>
          <p:cNvPr id="530" name="Google Shape;530;p25"/>
          <p:cNvSpPr txBox="1"/>
          <p:nvPr/>
        </p:nvSpPr>
        <p:spPr>
          <a:xfrm>
            <a:off x="1097280" y="1737360"/>
            <a:ext cx="9966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0" i="0" u="none" strike="noStrike" cap="none">
                <a:solidFill>
                  <a:srgbClr val="1B2430"/>
                </a:solidFill>
                <a:latin typeface="Cambria Math"/>
                <a:ea typeface="Cambria Math"/>
                <a:cs typeface="Cambria Math"/>
                <a:sym typeface="Cambria Math"/>
              </a:rPr>
              <a:t>L = f(x)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1" name="Google Shape;531;p25"/>
              <p:cNvSpPr txBox="1"/>
              <p:nvPr/>
            </p:nvSpPr>
            <p:spPr>
              <a:xfrm>
                <a:off x="1097278" y="2423159"/>
                <a:ext cx="10332717" cy="1190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6575" tIns="36575" rIns="36575" bIns="36575" anchor="ctr" anchorCtr="0">
                <a:normAutofit fontScale="25000" lnSpcReduction="20000"/>
              </a:bodyPr>
              <a:lstStyle/>
              <a:p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2800" b="0" i="0" u="none" strike="noStrike" cap="none" smtClean="0">
                              <a:solidFill>
                                <a:srgbClr val="1B2430"/>
                              </a:solidFill>
                              <a:latin typeface="Cambria Math" panose="02040503050406030204" pitchFamily="18" charset="0"/>
                              <a:ea typeface="Cambria Math"/>
                              <a:sym typeface="Cambria Math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en-US" sz="12800" b="0" i="0" u="none" strike="noStrike" cap="none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sym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sz="12800" b="0" i="0" u="none" strike="noStrike" cap="none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sym typeface="Cambria Math"/>
                                  </a:rPr>
                                  <m:t>𝜕</m:t>
                                </m:r>
                                <m:r>
                                  <a:rPr lang="en-US" sz="12800" b="0" i="0" u="none" strike="noStrike" cap="none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sym typeface="Cambria Math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en-US" sz="12800" b="0" i="0" u="none" strike="noStrike" cap="none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sym typeface="Cambria Math"/>
                                  </a:rPr>
                                  <m:t>𝜕</m:t>
                                </m:r>
                                <m:r>
                                  <a:rPr lang="en-US" sz="12800" b="0" i="0" u="none" strike="noStrike" cap="none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sym typeface="Cambria Math"/>
                                  </a:rPr>
                                  <m:t>𝐿</m:t>
                                </m:r>
                              </m:den>
                            </m:f>
                            <m:r>
                              <a:rPr lang="pl-PL" sz="12800" b="0" i="0" u="none" strike="noStrike" cap="none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  <a:ea typeface="Cambria Math"/>
                                <a:sym typeface="Cambria Math"/>
                              </a:rPr>
                              <m:t>=1</m:t>
                            </m:r>
                          </m:e>
                        </m:mr>
                      </m:m>
                    </m:oMath>
                  </m:oMathPara>
                </a14:m>
                <a:endParaRPr lang="en-US" sz="12800" b="0" i="0" u="none" strike="noStrike" cap="none">
                  <a:solidFill>
                    <a:srgbClr val="1B2430"/>
                  </a:solidFill>
                  <a:latin typeface="Cambria Math"/>
                  <a:ea typeface="Cambria Math"/>
                  <a:sym typeface="Cambria Math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100" b="0" i="0" u="none" strike="noStrike" cap="none">
                    <a:solidFill>
                      <a:srgbClr val="1B243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 </a:t>
                </a:r>
                <a:endParaRPr/>
              </a:p>
            </p:txBody>
          </p:sp>
        </mc:Choice>
        <mc:Fallback>
          <p:sp>
            <p:nvSpPr>
              <p:cNvPr id="531" name="Google Shape;531;p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78" y="2423159"/>
                <a:ext cx="10332717" cy="11900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2" name="Google Shape;532;p25"/>
          <p:cNvCxnSpPr/>
          <p:nvPr/>
        </p:nvCxnSpPr>
        <p:spPr>
          <a:xfrm>
            <a:off x="6080760" y="3520440"/>
            <a:ext cx="0" cy="548640"/>
          </a:xfrm>
          <a:prstGeom prst="straightConnector1">
            <a:avLst/>
          </a:prstGeom>
          <a:noFill/>
          <a:ln w="33000" cap="flat" cmpd="sng">
            <a:solidFill>
              <a:srgbClr val="F485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533" name="Google Shape;533;p25"/>
          <p:cNvSpPr/>
          <p:nvPr/>
        </p:nvSpPr>
        <p:spPr>
          <a:xfrm>
            <a:off x="2971800" y="4160520"/>
            <a:ext cx="6217920" cy="713232"/>
          </a:xfrm>
          <a:prstGeom prst="roundRect">
            <a:avLst>
              <a:gd name="adj" fmla="val 16667"/>
            </a:avLst>
          </a:prstGeom>
          <a:solidFill>
            <a:srgbClr val="FFECDE"/>
          </a:solidFill>
          <a:ln w="9525" cap="flat" cmpd="sng">
            <a:solidFill>
              <a:srgbClr val="FFEC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5"/>
          <p:cNvSpPr txBox="1"/>
          <p:nvPr/>
        </p:nvSpPr>
        <p:spPr>
          <a:xfrm>
            <a:off x="3136392" y="4251959"/>
            <a:ext cx="588873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Seed the backward pass with 1.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7"/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BACKWARD PASS</a:t>
            </a:r>
            <a:endParaRPr/>
          </a:p>
        </p:txBody>
      </p:sp>
      <p:sp>
        <p:nvSpPr>
          <p:cNvPr id="556" name="Google Shape;556;p27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Local derivative rules</a:t>
            </a:r>
            <a:endParaRPr/>
          </a:p>
        </p:txBody>
      </p:sp>
      <p:sp>
        <p:nvSpPr>
          <p:cNvPr id="557" name="Google Shape;557;p27"/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7"/>
          <p:cNvSpPr/>
          <p:nvPr/>
        </p:nvSpPr>
        <p:spPr>
          <a:xfrm>
            <a:off x="868680" y="1691640"/>
            <a:ext cx="10515600" cy="4251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BEFF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7"/>
          <p:cNvSpPr txBox="1"/>
          <p:nvPr/>
        </p:nvSpPr>
        <p:spPr>
          <a:xfrm>
            <a:off x="1234440" y="1901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5B697A"/>
                </a:solidFill>
                <a:latin typeface="Arial"/>
                <a:ea typeface="Arial"/>
                <a:cs typeface="Arial"/>
                <a:sym typeface="Arial"/>
              </a:rPr>
              <a:t>primitive</a:t>
            </a:r>
            <a:endParaRPr/>
          </a:p>
        </p:txBody>
      </p:sp>
      <p:sp>
        <p:nvSpPr>
          <p:cNvPr id="561" name="Google Shape;561;p27"/>
          <p:cNvSpPr txBox="1"/>
          <p:nvPr/>
        </p:nvSpPr>
        <p:spPr>
          <a:xfrm>
            <a:off x="4572000" y="1901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5B697A"/>
                </a:solidFill>
                <a:latin typeface="Arial"/>
                <a:ea typeface="Arial"/>
                <a:cs typeface="Arial"/>
                <a:sym typeface="Arial"/>
              </a:rPr>
              <a:t>local derivative(s)</a:t>
            </a:r>
            <a:endParaRPr/>
          </a:p>
        </p:txBody>
      </p:sp>
      <p:sp>
        <p:nvSpPr>
          <p:cNvPr id="562" name="Google Shape;562;p27"/>
          <p:cNvSpPr txBox="1"/>
          <p:nvPr/>
        </p:nvSpPr>
        <p:spPr>
          <a:xfrm>
            <a:off x="1234440" y="2331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endParaRPr/>
          </a:p>
        </p:txBody>
      </p:sp>
      <p:sp>
        <p:nvSpPr>
          <p:cNvPr id="563" name="Google Shape;563;p27"/>
          <p:cNvSpPr txBox="1"/>
          <p:nvPr/>
        </p:nvSpPr>
        <p:spPr>
          <a:xfrm>
            <a:off x="4572000" y="23317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B2430"/>
                </a:solidFill>
                <a:latin typeface="Cambria Math"/>
                <a:ea typeface="Cambria Math"/>
                <a:cs typeface="Cambria Math"/>
                <a:sym typeface="Cambria Math"/>
              </a:rPr>
              <a:t>1 , 1</a:t>
            </a:r>
            <a:endParaRPr/>
          </a:p>
        </p:txBody>
      </p:sp>
      <p:sp>
        <p:nvSpPr>
          <p:cNvPr id="564" name="Google Shape;564;p27"/>
          <p:cNvSpPr txBox="1"/>
          <p:nvPr/>
        </p:nvSpPr>
        <p:spPr>
          <a:xfrm>
            <a:off x="1234440" y="28163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subtract</a:t>
            </a:r>
            <a:endParaRPr/>
          </a:p>
        </p:txBody>
      </p:sp>
      <p:sp>
        <p:nvSpPr>
          <p:cNvPr id="565" name="Google Shape;565;p27"/>
          <p:cNvSpPr txBox="1"/>
          <p:nvPr/>
        </p:nvSpPr>
        <p:spPr>
          <a:xfrm>
            <a:off x="4572000" y="28163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B2430"/>
                </a:solidFill>
                <a:latin typeface="Cambria Math"/>
                <a:ea typeface="Cambria Math"/>
                <a:cs typeface="Cambria Math"/>
                <a:sym typeface="Cambria Math"/>
              </a:rPr>
              <a:t>1 , −1</a:t>
            </a:r>
            <a:endParaRPr/>
          </a:p>
        </p:txBody>
      </p:sp>
      <p:sp>
        <p:nvSpPr>
          <p:cNvPr id="566" name="Google Shape;566;p27"/>
          <p:cNvSpPr txBox="1"/>
          <p:nvPr/>
        </p:nvSpPr>
        <p:spPr>
          <a:xfrm>
            <a:off x="1234440" y="33009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multiply</a:t>
            </a:r>
            <a:endParaRPr/>
          </a:p>
        </p:txBody>
      </p:sp>
      <p:sp>
        <p:nvSpPr>
          <p:cNvPr id="567" name="Google Shape;567;p27"/>
          <p:cNvSpPr txBox="1"/>
          <p:nvPr/>
        </p:nvSpPr>
        <p:spPr>
          <a:xfrm>
            <a:off x="4572000" y="33009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B2430"/>
                </a:solidFill>
                <a:latin typeface="Cambria Math"/>
                <a:ea typeface="Cambria Math"/>
                <a:cs typeface="Cambria Math"/>
                <a:sym typeface="Cambria Math"/>
              </a:rPr>
              <a:t>b , a</a:t>
            </a:r>
            <a:endParaRPr/>
          </a:p>
        </p:txBody>
      </p:sp>
      <p:sp>
        <p:nvSpPr>
          <p:cNvPr id="568" name="Google Shape;568;p27"/>
          <p:cNvSpPr txBox="1"/>
          <p:nvPr/>
        </p:nvSpPr>
        <p:spPr>
          <a:xfrm>
            <a:off x="1234440" y="3785615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divide</a:t>
            </a:r>
            <a:endParaRPr/>
          </a:p>
        </p:txBody>
      </p:sp>
      <p:sp>
        <p:nvSpPr>
          <p:cNvPr id="569" name="Google Shape;569;p27"/>
          <p:cNvSpPr txBox="1"/>
          <p:nvPr/>
        </p:nvSpPr>
        <p:spPr>
          <a:xfrm>
            <a:off x="4572000" y="3785615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B2430"/>
                </a:solidFill>
                <a:latin typeface="Cambria Math"/>
                <a:ea typeface="Cambria Math"/>
                <a:cs typeface="Cambria Math"/>
                <a:sym typeface="Cambria Math"/>
              </a:rPr>
              <a:t>1/b , −a/b²</a:t>
            </a:r>
            <a:endParaRPr/>
          </a:p>
        </p:txBody>
      </p:sp>
      <p:sp>
        <p:nvSpPr>
          <p:cNvPr id="570" name="Google Shape;570;p27"/>
          <p:cNvSpPr txBox="1"/>
          <p:nvPr/>
        </p:nvSpPr>
        <p:spPr>
          <a:xfrm>
            <a:off x="1234440" y="42702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exp</a:t>
            </a:r>
            <a:endParaRPr/>
          </a:p>
        </p:txBody>
      </p:sp>
      <p:sp>
        <p:nvSpPr>
          <p:cNvPr id="571" name="Google Shape;571;p27"/>
          <p:cNvSpPr txBox="1"/>
          <p:nvPr/>
        </p:nvSpPr>
        <p:spPr>
          <a:xfrm>
            <a:off x="4572000" y="42702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B2430"/>
                </a:solidFill>
                <a:latin typeface="Cambria Math"/>
                <a:ea typeface="Cambria Math"/>
                <a:cs typeface="Cambria Math"/>
                <a:sym typeface="Cambria Math"/>
              </a:rPr>
              <a:t>exp(x)</a:t>
            </a:r>
            <a:endParaRPr/>
          </a:p>
        </p:txBody>
      </p:sp>
      <p:sp>
        <p:nvSpPr>
          <p:cNvPr id="572" name="Google Shape;572;p27"/>
          <p:cNvSpPr txBox="1"/>
          <p:nvPr/>
        </p:nvSpPr>
        <p:spPr>
          <a:xfrm>
            <a:off x="1234440" y="4754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endParaRPr/>
          </a:p>
        </p:txBody>
      </p:sp>
      <p:sp>
        <p:nvSpPr>
          <p:cNvPr id="573" name="Google Shape;573;p27"/>
          <p:cNvSpPr txBox="1"/>
          <p:nvPr/>
        </p:nvSpPr>
        <p:spPr>
          <a:xfrm>
            <a:off x="4572000" y="47548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B2430"/>
                </a:solidFill>
                <a:latin typeface="Cambria Math"/>
                <a:ea typeface="Cambria Math"/>
                <a:cs typeface="Cambria Math"/>
                <a:sym typeface="Cambria Math"/>
              </a:rPr>
              <a:t>cos(x)</a:t>
            </a:r>
            <a:endParaRPr/>
          </a:p>
        </p:txBody>
      </p:sp>
      <p:sp>
        <p:nvSpPr>
          <p:cNvPr id="574" name="Google Shape;574;p27"/>
          <p:cNvSpPr txBox="1"/>
          <p:nvPr/>
        </p:nvSpPr>
        <p:spPr>
          <a:xfrm>
            <a:off x="1234440" y="5239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endParaRPr/>
          </a:p>
        </p:txBody>
      </p:sp>
      <p:sp>
        <p:nvSpPr>
          <p:cNvPr id="575" name="Google Shape;575;p27"/>
          <p:cNvSpPr txBox="1"/>
          <p:nvPr/>
        </p:nvSpPr>
        <p:spPr>
          <a:xfrm>
            <a:off x="4572000" y="52395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B2430"/>
                </a:solidFill>
                <a:latin typeface="Cambria Math"/>
                <a:ea typeface="Cambria Math"/>
                <a:cs typeface="Cambria Math"/>
                <a:sym typeface="Cambria Math"/>
              </a:rPr>
              <a:t>−sin(x)</a:t>
            </a:r>
            <a:endParaRPr/>
          </a:p>
        </p:txBody>
      </p:sp>
      <p:sp>
        <p:nvSpPr>
          <p:cNvPr id="576" name="Google Shape;576;p27"/>
          <p:cNvSpPr/>
          <p:nvPr/>
        </p:nvSpPr>
        <p:spPr>
          <a:xfrm>
            <a:off x="8001000" y="2651760"/>
            <a:ext cx="2697480" cy="1325880"/>
          </a:xfrm>
          <a:prstGeom prst="roundRect">
            <a:avLst>
              <a:gd name="adj" fmla="val 16667"/>
            </a:avLst>
          </a:prstGeom>
          <a:solidFill>
            <a:srgbClr val="FFECDE"/>
          </a:solidFill>
          <a:ln w="9525" cap="flat" cmpd="sng">
            <a:solidFill>
              <a:srgbClr val="FFEC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7"/>
          <p:cNvSpPr txBox="1"/>
          <p:nvPr/>
        </p:nvSpPr>
        <p:spPr>
          <a:xfrm>
            <a:off x="8165592" y="2743200"/>
            <a:ext cx="236829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The engine is generic; primitives provide the calculus.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0"/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BACKWARD PASS</a:t>
            </a:r>
            <a:endParaRPr/>
          </a:p>
        </p:txBody>
      </p:sp>
      <p:sp>
        <p:nvSpPr>
          <p:cNvPr id="625" name="Google Shape;625;p30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Topological order</a:t>
            </a:r>
            <a:endParaRPr/>
          </a:p>
        </p:txBody>
      </p:sp>
      <p:sp>
        <p:nvSpPr>
          <p:cNvPr id="626" name="Google Shape;626;p30"/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D8999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B4F083-CF71-7CB6-83A7-17E240B91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8367"/>
            <a:ext cx="5938684" cy="28471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254940-F7A3-DC86-A8E2-4661BE2D2915}"/>
                  </a:ext>
                </a:extLst>
              </p:cNvPr>
              <p:cNvSpPr txBox="1"/>
              <p:nvPr/>
            </p:nvSpPr>
            <p:spPr>
              <a:xfrm>
                <a:off x="373566" y="1657858"/>
                <a:ext cx="5201324" cy="4138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algn="l">
                  <a:spcBef>
                    <a:spcPts val="1800"/>
                  </a:spcBef>
                  <a:spcAft>
                    <a:spcPts val="600"/>
                  </a:spcAft>
                  <a:buNone/>
                </a:pPr>
                <a:r>
                  <a:rPr lang="en-PL" sz="1400" b="1" i="0">
                    <a:solidFill>
                      <a:srgbClr val="000000"/>
                    </a:solidFill>
                    <a:effectLst/>
                    <a:latin typeface="Arial"/>
                  </a:rPr>
                  <a:t>1. The Diamond Dependency Problem in Reverse-Mode Autodiff</a:t>
                </a:r>
              </a:p>
              <a:p>
                <a:pPr indent="0" algn="l">
                  <a:buNone/>
                </a:pPr>
                <a:r>
                  <a:rPr lang="en-PL" sz="1400" b="0" i="0">
                    <a:solidFill>
                      <a:srgbClr val="000000"/>
                    </a:solidFill>
                    <a:effectLst/>
                    <a:latin typeface="Arial"/>
                  </a:rPr>
                  <a:t>In the Directed Acyclic Graph (DAG):</a:t>
                </a: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PL" sz="1400" b="0" i="0">
                    <a:solidFill>
                      <a:srgbClr val="000000"/>
                    </a:solidFill>
                    <a:effectLst/>
                    <a:latin typeface="Arial"/>
                  </a:rPr>
                  <a:t>Forward pathways fan out from a through two parallel branches: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PL" sz="1400" b="0" i="0">
                    <a:solidFill>
                      <a:srgbClr val="000000"/>
                    </a:solidFill>
                    <a:effectLst/>
                    <a:latin typeface="Arial"/>
                  </a:rPr>
                  <a:t>Upper branch: </a:t>
                </a:r>
                <a14:m>
                  <m:oMath xmlns:m="http://schemas.openxmlformats.org/officeDocument/2006/math">
                    <m:r>
                      <a:rPr lang="en-PL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PL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PL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PL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PL" b="0" i="1">
                        <a:latin typeface="Arial"/>
                      </a:rPr>
                      <m:t>Loss</m:t>
                    </m:r>
                  </m:oMath>
                </a14:m>
                <a:endParaRPr lang="en-PL" sz="1400" b="0" i="0">
                  <a:solidFill>
                    <a:srgbClr val="000000"/>
                  </a:solidFill>
                  <a:effectLst/>
                  <a:latin typeface="Arial"/>
                </a:endParaRP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PL" sz="1400" b="0" i="0">
                    <a:solidFill>
                      <a:srgbClr val="000000"/>
                    </a:solidFill>
                    <a:effectLst/>
                    <a:latin typeface="Arial"/>
                  </a:rPr>
                  <a:t>Lower branch: </a:t>
                </a:r>
                <a14:m>
                  <m:oMath xmlns:m="http://schemas.openxmlformats.org/officeDocument/2006/math">
                    <m:r>
                      <a:rPr lang="en-PL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PL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PL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PL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PL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PL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PL" b="0" i="1">
                        <a:latin typeface="Arial"/>
                      </a:rPr>
                      <m:t>Loss</m:t>
                    </m:r>
                  </m:oMath>
                </a14:m>
                <a:endParaRPr lang="en-PL" sz="1400" b="0" i="0">
                  <a:solidFill>
                    <a:srgbClr val="000000"/>
                  </a:solidFill>
                  <a:effectLst/>
                  <a:latin typeface="Arial"/>
                </a:endParaRP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PL" sz="1400" b="0" i="0">
                    <a:solidFill>
                      <a:srgbClr val="000000"/>
                    </a:solidFill>
                    <a:effectLst/>
                    <a:latin typeface="Arial"/>
                  </a:rPr>
                  <a:t>During the backward pass, calculating the total sensitivity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L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PL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nor/>
                          </m:rPr>
                          <a:rPr lang="en-PL" b="0" i="1">
                            <a:latin typeface="Arial"/>
                          </a:rPr>
                          <m:t>Loss</m:t>
                        </m:r>
                      </m:num>
                      <m:den>
                        <m:r>
                          <a:rPr lang="en-PL" b="0" i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PL" b="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PL" sz="1400" b="0" i="0">
                    <a:solidFill>
                      <a:srgbClr val="000000"/>
                    </a:solidFill>
                    <a:effectLst/>
                    <a:latin typeface="Arial"/>
                  </a:rPr>
                  <a:t> requires summing the contributions from every downstream pathway:</a:t>
                </a:r>
                <a:br>
                  <a:rPr lang="en-PL" sz="1400" b="0" i="0">
                    <a:solidFill>
                      <a:srgbClr val="000000"/>
                    </a:solidFill>
                    <a:effectLst/>
                    <a:latin typeface="Arial"/>
                  </a:rPr>
                </a:br>
                <a:r>
                  <a:rPr lang="en-PL" sz="1400" b="0" i="0">
                    <a:solidFill>
                      <a:srgbClr val="000000"/>
                    </a:solidFill>
                    <a:effectLst/>
                    <a:latin typeface="Arial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L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PL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nor/>
                          </m:rPr>
                          <a:rPr lang="en-PL" b="0" i="1">
                            <a:latin typeface="Arial"/>
                          </a:rPr>
                          <m:t>Loss</m:t>
                        </m:r>
                      </m:num>
                      <m:den>
                        <m:r>
                          <a:rPr lang="en-PL" b="0" i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PL" b="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PL" b="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PL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PL" b="0" i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PL" b="0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nor/>
                              </m:rPr>
                              <a:rPr lang="en-PL" b="0" i="1">
                                <a:latin typeface="Arial"/>
                              </a:rPr>
                              <m:t>Loss</m:t>
                            </m:r>
                          </m:num>
                          <m:den>
                            <m:r>
                              <a:rPr lang="en-PL" b="0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PL" b="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a:rPr lang="en-PL" b="0" i="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en-PL" b="0" i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PL" b="0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PL" b="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PL" b="0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PL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a:rPr lang="en-PL" b="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PL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PL" b="0" i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PL" b="0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nor/>
                              </m:rPr>
                              <a:rPr lang="en-PL" b="0" i="1">
                                <a:latin typeface="Arial"/>
                              </a:rPr>
                              <m:t>Loss</m:t>
                            </m:r>
                          </m:num>
                          <m:den>
                            <m:r>
                              <a:rPr lang="en-PL" b="0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PL" b="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a:rPr lang="en-PL" b="0" i="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en-PL" b="0" i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PL" b="0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PL" b="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PL" b="0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PL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endParaRPr lang="en-PL" sz="1400" b="0" i="0">
                  <a:solidFill>
                    <a:srgbClr val="000000"/>
                  </a:solidFill>
                  <a:effectLst/>
                  <a:latin typeface="Arial"/>
                </a:endParaRP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PL" sz="1400" b="0" i="0">
                    <a:solidFill>
                      <a:srgbClr val="000000"/>
                    </a:solidFill>
                    <a:effectLst/>
                    <a:latin typeface="Arial"/>
                  </a:rPr>
                  <a:t>If node </a:t>
                </a:r>
                <a:r>
                  <a:rPr lang="en-PL" sz="1400" b="0" i="0">
                    <a:solidFill>
                      <a:schemeClr val="bg2"/>
                    </a:solidFill>
                    <a:effectLst/>
                    <a:latin typeface="Arial"/>
                  </a:rPr>
                  <a:t>a</a:t>
                </a:r>
                <a:r>
                  <a:rPr lang="en-PL" sz="1400" b="0" i="0">
                    <a:solidFill>
                      <a:srgbClr val="000000"/>
                    </a:solidFill>
                    <a:effectLst/>
                    <a:latin typeface="Arial"/>
                  </a:rPr>
                  <a:t> were updated before node </a:t>
                </a:r>
                <a:r>
                  <a:rPr lang="en-PL" sz="1400" b="0" i="0">
                    <a:solidFill>
                      <a:srgbClr val="7030A0"/>
                    </a:solidFill>
                    <a:effectLst/>
                    <a:latin typeface="Arial"/>
                  </a:rPr>
                  <a:t>c</a:t>
                </a:r>
                <a:r>
                  <a:rPr lang="en-PL" sz="1400" b="0" i="0">
                    <a:solidFill>
                      <a:srgbClr val="000000"/>
                    </a:solidFill>
                    <a:effectLst/>
                    <a:latin typeface="Arial"/>
                  </a:rPr>
                  <a:t> or node </a:t>
                </a:r>
                <a:r>
                  <a:rPr lang="en-PL" sz="1400" b="0" i="0">
                    <a:solidFill>
                      <a:srgbClr val="7030A0"/>
                    </a:solidFill>
                    <a:effectLst/>
                    <a:latin typeface="Arial"/>
                  </a:rPr>
                  <a:t>b</a:t>
                </a:r>
                <a:r>
                  <a:rPr lang="en-PL" sz="1400" b="0" i="0">
                    <a:solidFill>
                      <a:srgbClr val="000000"/>
                    </a:solidFill>
                    <a:effectLst/>
                    <a:latin typeface="Arial"/>
                  </a:rPr>
                  <a:t> received their complete downstream gradient, any gradient flowing through that path would either be calculated with stale values or lost entirely.</a:t>
                </a:r>
              </a:p>
              <a:p>
                <a:pPr>
                  <a:buNone/>
                </a:pPr>
                <a:br>
                  <a:rPr lang="en-PL"/>
                </a:br>
                <a:endParaRPr lang="en-PL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254940-F7A3-DC86-A8E2-4661BE2D2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566" y="1657858"/>
                <a:ext cx="5201324" cy="4138441"/>
              </a:xfrm>
              <a:prstGeom prst="rect">
                <a:avLst/>
              </a:prstGeom>
              <a:blipFill>
                <a:blip r:embed="rId4"/>
                <a:stretch>
                  <a:fillRect l="-487" t="-306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201C2CC-5CA5-EA27-5B1D-A82E2D152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800" y="4026310"/>
            <a:ext cx="6126884" cy="17699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2"/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BACKWARD PASS</a:t>
            </a:r>
            <a:endParaRPr/>
          </a:p>
        </p:txBody>
      </p:sp>
      <p:sp>
        <p:nvSpPr>
          <p:cNvPr id="662" name="Google Shape;662;p3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The autograd engine</a:t>
            </a:r>
            <a:endParaRPr/>
          </a:p>
        </p:txBody>
      </p:sp>
      <p:sp>
        <p:nvSpPr>
          <p:cNvPr id="663" name="Google Shape;663;p32"/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2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D8999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  <p:sp>
        <p:nvSpPr>
          <p:cNvPr id="666" name="Google Shape;666;p32"/>
          <p:cNvSpPr/>
          <p:nvPr/>
        </p:nvSpPr>
        <p:spPr>
          <a:xfrm>
            <a:off x="822960" y="1691640"/>
            <a:ext cx="6400800" cy="3611880"/>
          </a:xfrm>
          <a:prstGeom prst="roundRect">
            <a:avLst>
              <a:gd name="adj" fmla="val 16667"/>
            </a:avLst>
          </a:prstGeom>
          <a:solidFill>
            <a:srgbClr val="1D2431"/>
          </a:solidFill>
          <a:ln w="9525" cap="flat" cmpd="sng">
            <a:solidFill>
              <a:srgbClr val="1D243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2"/>
          <p:cNvSpPr txBox="1"/>
          <p:nvPr/>
        </p:nvSpPr>
        <p:spPr>
          <a:xfrm>
            <a:off x="1024128" y="1801368"/>
            <a:ext cx="5998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32"/>
          <p:cNvSpPr txBox="1"/>
          <p:nvPr/>
        </p:nvSpPr>
        <p:spPr>
          <a:xfrm>
            <a:off x="1024128" y="2103120"/>
            <a:ext cx="5998464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EEF3F9"/>
                </a:solidFill>
                <a:latin typeface="Arial"/>
                <a:ea typeface="Arial"/>
                <a:cs typeface="Arial"/>
                <a:sym typeface="Arial"/>
              </a:rPr>
              <a:t>def backward(self):</a:t>
            </a:r>
            <a:br>
              <a:rPr lang="en-US" sz="2000" b="0" i="0" u="none" strike="noStrike" cap="none">
                <a:solidFill>
                  <a:srgbClr val="EEF3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EEF3F9"/>
                </a:solidFill>
                <a:latin typeface="Arial"/>
                <a:ea typeface="Arial"/>
                <a:cs typeface="Arial"/>
                <a:sym typeface="Arial"/>
              </a:rPr>
              <a:t>    nodes = topological_sort(self)</a:t>
            </a:r>
            <a:br>
              <a:rPr lang="en-US" sz="2000" b="0" i="0" u="none" strike="noStrike" cap="none">
                <a:solidFill>
                  <a:srgbClr val="EEF3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EEF3F9"/>
                </a:solidFill>
                <a:latin typeface="Arial"/>
                <a:ea typeface="Arial"/>
                <a:cs typeface="Arial"/>
                <a:sym typeface="Arial"/>
              </a:rPr>
              <a:t>    self.grad = ones_like(self.value)</a:t>
            </a:r>
            <a:br>
              <a:rPr lang="en-US" sz="2000" b="0" i="0" u="none" strike="noStrike" cap="none">
                <a:solidFill>
                  <a:srgbClr val="EEF3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EEF3F9"/>
                </a:solidFill>
                <a:latin typeface="Arial"/>
                <a:ea typeface="Arial"/>
                <a:cs typeface="Arial"/>
                <a:sym typeface="Arial"/>
              </a:rPr>
              <a:t>    for node in reversed(nodes):</a:t>
            </a:r>
            <a:br>
              <a:rPr lang="en-US" sz="2000" b="0" i="0" u="none" strike="noStrike" cap="none">
                <a:solidFill>
                  <a:srgbClr val="EEF3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EEF3F9"/>
                </a:solidFill>
                <a:latin typeface="Arial"/>
                <a:ea typeface="Arial"/>
                <a:cs typeface="Arial"/>
                <a:sym typeface="Arial"/>
              </a:rPr>
              <a:t>        # apply the primitive's local rule</a:t>
            </a:r>
            <a:br>
              <a:rPr lang="en-US" sz="2000" b="0" i="0" u="none" strike="noStrike" cap="none">
                <a:solidFill>
                  <a:srgbClr val="EEF3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EEF3F9"/>
                </a:solidFill>
                <a:latin typeface="Arial"/>
                <a:ea typeface="Arial"/>
                <a:cs typeface="Arial"/>
                <a:sym typeface="Arial"/>
              </a:rPr>
              <a:t>        # add contributions to parents</a:t>
            </a:r>
            <a:endParaRPr sz="2000"/>
          </a:p>
        </p:txBody>
      </p:sp>
      <p:sp>
        <p:nvSpPr>
          <p:cNvPr id="669" name="Google Shape;669;p32"/>
          <p:cNvSpPr/>
          <p:nvPr/>
        </p:nvSpPr>
        <p:spPr>
          <a:xfrm>
            <a:off x="7680960" y="2057400"/>
            <a:ext cx="3108960" cy="1234440"/>
          </a:xfrm>
          <a:prstGeom prst="roundRect">
            <a:avLst>
              <a:gd name="adj" fmla="val 16667"/>
            </a:avLst>
          </a:prstGeom>
          <a:solidFill>
            <a:srgbClr val="FFECDE"/>
          </a:solidFill>
          <a:ln w="9525" cap="flat" cmpd="sng">
            <a:solidFill>
              <a:srgbClr val="FFEC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2"/>
          <p:cNvSpPr txBox="1"/>
          <p:nvPr/>
        </p:nvSpPr>
        <p:spPr>
          <a:xfrm>
            <a:off x="7845552" y="2148840"/>
            <a:ext cx="2779776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Graph traversal is generic.</a:t>
            </a:r>
            <a:br>
              <a:rPr lang="en-US" sz="18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Derivative rules are operation-specific.</a:t>
            </a:r>
            <a:endParaRPr/>
          </a:p>
        </p:txBody>
      </p:sp>
      <p:sp>
        <p:nvSpPr>
          <p:cNvPr id="671" name="Google Shape;671;p32"/>
          <p:cNvSpPr txBox="1"/>
          <p:nvPr/>
        </p:nvSpPr>
        <p:spPr>
          <a:xfrm>
            <a:off x="7680960" y="3749039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5B697A"/>
                </a:solidFill>
                <a:latin typeface="Arial"/>
                <a:ea typeface="Arial"/>
                <a:cs typeface="Arial"/>
                <a:sym typeface="Arial"/>
              </a:rPr>
              <a:t>Look for these ideas in the real implementation.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E5BE8-A05B-C9B3-161D-BC565BF6F8D9}"/>
              </a:ext>
            </a:extLst>
          </p:cNvPr>
          <p:cNvSpPr txBox="1"/>
          <p:nvPr/>
        </p:nvSpPr>
        <p:spPr>
          <a:xfrm>
            <a:off x="424754" y="6065032"/>
            <a:ext cx="73417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L"/>
              <a:t>https://github.com/adendek/utorch/blob/feat/03-scalar-autograd/utorch/autograd/tensor.py#L389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91930B-2191-2006-B858-6F4DD86B1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849" y="4384802"/>
            <a:ext cx="2317750" cy="2317750"/>
          </a:xfrm>
          <a:prstGeom prst="rect">
            <a:avLst/>
          </a:prstGeom>
        </p:spPr>
      </p:pic>
      <p:sp>
        <p:nvSpPr>
          <p:cNvPr id="5" name="Google Shape;420;p20">
            <a:extLst>
              <a:ext uri="{FF2B5EF4-FFF2-40B4-BE49-F238E27FC236}">
                <a16:creationId xmlns:a16="http://schemas.microsoft.com/office/drawing/2014/main" id="{F41B0150-CE4C-9507-DD30-53335DDD0C99}"/>
              </a:ext>
            </a:extLst>
          </p:cNvPr>
          <p:cNvSpPr txBox="1"/>
          <p:nvPr/>
        </p:nvSpPr>
        <p:spPr>
          <a:xfrm>
            <a:off x="8942832" y="3977639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9"/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/>
          </a:p>
        </p:txBody>
      </p:sp>
      <p:sp>
        <p:nvSpPr>
          <p:cNvPr id="805" name="Google Shape;805;p39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Numerical gradient checking</a:t>
            </a:r>
            <a:endParaRPr/>
          </a:p>
        </p:txBody>
      </p:sp>
      <p:sp>
        <p:nvSpPr>
          <p:cNvPr id="806" name="Google Shape;806;p39"/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9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D8999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8" name="Google Shape;808;p39"/>
              <p:cNvSpPr txBox="1"/>
              <p:nvPr/>
            </p:nvSpPr>
            <p:spPr>
              <a:xfrm>
                <a:off x="914400" y="1828799"/>
                <a:ext cx="10427110" cy="914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6575" tIns="36575" rIns="36575" bIns="365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PL" sz="2800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en-PL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PL" sz="2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PL" sz="2800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PL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PL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PL" sz="28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PL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"/>
                                    <m:ctrlPr>
                                      <a:rPr lang="en-PL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L" sz="28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PL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PL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PL" sz="2800" i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PL" sz="2800" i="1"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e>
                                    </m:d>
                                    <m:r>
                                      <a:rPr lang="en-PL" sz="28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PL" sz="28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PL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PL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PL" sz="2800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PL" sz="2800" i="1"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r>
                                  <a:rPr lang="en-PL" sz="28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PL" sz="28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sz="2800"/>
              </a:p>
            </p:txBody>
          </p:sp>
        </mc:Choice>
        <mc:Fallback>
          <p:sp>
            <p:nvSpPr>
              <p:cNvPr id="808" name="Google Shape;808;p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828799"/>
                <a:ext cx="10427110" cy="914399"/>
              </a:xfrm>
              <a:prstGeom prst="rect">
                <a:avLst/>
              </a:prstGeom>
              <a:blipFill>
                <a:blip r:embed="rId3"/>
                <a:stretch>
                  <a:fillRect t="-109589" b="-1178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" name="Google Shape;809;p39"/>
          <p:cNvSpPr txBox="1"/>
          <p:nvPr/>
        </p:nvSpPr>
        <p:spPr>
          <a:xfrm>
            <a:off x="914400" y="30632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Finite differences</a:t>
            </a:r>
            <a:endParaRPr/>
          </a:p>
        </p:txBody>
      </p:sp>
      <p:sp>
        <p:nvSpPr>
          <p:cNvPr id="810" name="Google Shape;810;p39"/>
          <p:cNvSpPr txBox="1"/>
          <p:nvPr/>
        </p:nvSpPr>
        <p:spPr>
          <a:xfrm>
            <a:off x="914400" y="365760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5B697A"/>
                </a:solidFill>
                <a:latin typeface="Arial"/>
                <a:ea typeface="Arial"/>
                <a:cs typeface="Arial"/>
                <a:sym typeface="Arial"/>
              </a:rPr>
              <a:t>useful for debugging</a:t>
            </a:r>
            <a:br>
              <a:rPr lang="en-US" sz="1600" b="0" i="0" u="none" strike="noStrike" cap="none">
                <a:solidFill>
                  <a:srgbClr val="5B697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0" i="0" u="none" strike="noStrike" cap="none">
                <a:solidFill>
                  <a:srgbClr val="5B697A"/>
                </a:solidFill>
                <a:latin typeface="Arial"/>
                <a:ea typeface="Arial"/>
                <a:cs typeface="Arial"/>
                <a:sym typeface="Arial"/>
              </a:rPr>
              <a:t>expensive for large models</a:t>
            </a:r>
            <a:endParaRPr/>
          </a:p>
        </p:txBody>
      </p:sp>
      <p:cxnSp>
        <p:nvCxnSpPr>
          <p:cNvPr id="811" name="Google Shape;811;p39"/>
          <p:cNvCxnSpPr/>
          <p:nvPr/>
        </p:nvCxnSpPr>
        <p:spPr>
          <a:xfrm>
            <a:off x="4389120" y="3886200"/>
            <a:ext cx="3108959" cy="0"/>
          </a:xfrm>
          <a:prstGeom prst="straightConnector1">
            <a:avLst/>
          </a:prstGeom>
          <a:noFill/>
          <a:ln w="22850" cap="flat" cmpd="sng">
            <a:solidFill>
              <a:srgbClr val="5B697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812" name="Google Shape;812;p39"/>
          <p:cNvSpPr/>
          <p:nvPr/>
        </p:nvSpPr>
        <p:spPr>
          <a:xfrm>
            <a:off x="7543800" y="3457135"/>
            <a:ext cx="3200400" cy="914400"/>
          </a:xfrm>
          <a:prstGeom prst="roundRect">
            <a:avLst>
              <a:gd name="adj" fmla="val 16667"/>
            </a:avLst>
          </a:prstGeom>
          <a:solidFill>
            <a:srgbClr val="FFECDE"/>
          </a:solidFill>
          <a:ln w="9525" cap="flat" cmpd="sng">
            <a:solidFill>
              <a:srgbClr val="FFEC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9"/>
          <p:cNvSpPr txBox="1"/>
          <p:nvPr/>
        </p:nvSpPr>
        <p:spPr>
          <a:xfrm>
            <a:off x="7708392" y="3520440"/>
            <a:ext cx="287121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Autograd gradient  ≈  finite-difference gradient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A2A0F433-2586-877D-B5F5-9D555B0D3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>
            <a:extLst>
              <a:ext uri="{FF2B5EF4-FFF2-40B4-BE49-F238E27FC236}">
                <a16:creationId xmlns:a16="http://schemas.microsoft.com/office/drawing/2014/main" id="{F55B9AE4-45AF-FBC3-4669-6AFFD5FF9956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lvl="0"/>
            <a:r>
              <a:rPr lang="en-US" sz="40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Let’s move to the branch: </a:t>
            </a:r>
            <a:r>
              <a:rPr lang="en-GB" sz="2800" b="1">
                <a:solidFill>
                  <a:schemeClr val="bg2"/>
                </a:solidFill>
              </a:rPr>
              <a:t>feat/04-tensor-autograd</a:t>
            </a:r>
            <a:endParaRPr sz="2000">
              <a:solidFill>
                <a:schemeClr val="bg2"/>
              </a:solidFill>
            </a:endParaRPr>
          </a:p>
        </p:txBody>
      </p:sp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1FA6086E-9954-1DE0-9B10-87DF675BC7FF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ACA69A26-63BC-BD76-A0F8-519B7614DA11}"/>
              </a:ext>
            </a:extLst>
          </p:cNvPr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D899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C2AD5E-71F9-FD4D-3F50-0B5DBD6F5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0" y="2127250"/>
            <a:ext cx="26035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82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B372F7DB-4E23-133D-BF0A-F4F656269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5">
            <a:extLst>
              <a:ext uri="{FF2B5EF4-FFF2-40B4-BE49-F238E27FC236}">
                <a16:creationId xmlns:a16="http://schemas.microsoft.com/office/drawing/2014/main" id="{77DB9D90-9B95-5373-56AC-BF7122439C3F}"/>
              </a:ext>
            </a:extLst>
          </p:cNvPr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TENSORS</a:t>
            </a:r>
            <a:endParaRPr/>
          </a:p>
        </p:txBody>
      </p:sp>
      <p:sp>
        <p:nvSpPr>
          <p:cNvPr id="910" name="Google Shape;910;p45">
            <a:extLst>
              <a:ext uri="{FF2B5EF4-FFF2-40B4-BE49-F238E27FC236}">
                <a16:creationId xmlns:a16="http://schemas.microsoft.com/office/drawing/2014/main" id="{1D05E93C-698D-BAE8-2DF5-D18E6FF697A4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 fontScale="92500"/>
          </a:bodyPr>
          <a:lstStyle/>
          <a:p>
            <a:pPr lvl="0"/>
            <a:r>
              <a:rPr lang="en-PL" sz="3200"/>
              <a:t>Our Engine Has a Problem: No Matrix Multpilication Primitive</a:t>
            </a:r>
            <a:endParaRPr/>
          </a:p>
        </p:txBody>
      </p:sp>
      <p:sp>
        <p:nvSpPr>
          <p:cNvPr id="911" name="Google Shape;911;p45">
            <a:extLst>
              <a:ext uri="{FF2B5EF4-FFF2-40B4-BE49-F238E27FC236}">
                <a16:creationId xmlns:a16="http://schemas.microsoft.com/office/drawing/2014/main" id="{9E403E8E-B741-3B65-A0A9-6B9F1F095BE1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45">
            <a:extLst>
              <a:ext uri="{FF2B5EF4-FFF2-40B4-BE49-F238E27FC236}">
                <a16:creationId xmlns:a16="http://schemas.microsoft.com/office/drawing/2014/main" id="{A536FF6F-AC6B-E890-AF76-3BF846E28769}"/>
              </a:ext>
            </a:extLst>
          </p:cNvPr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D8999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C7BD7-C9EA-A539-A9F6-757FF3D559B6}"/>
              </a:ext>
            </a:extLst>
          </p:cNvPr>
          <p:cNvSpPr txBox="1"/>
          <p:nvPr/>
        </p:nvSpPr>
        <p:spPr>
          <a:xfrm>
            <a:off x="658368" y="1711783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L">
                <a:effectLst/>
              </a:rPr>
              <a:t>Why neural networks break our scalar autograd engine</a:t>
            </a:r>
            <a:endParaRPr lang="en-P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534E7B-9908-A387-82B7-3B7DCB7B2B0E}"/>
              </a:ext>
            </a:extLst>
          </p:cNvPr>
          <p:cNvSpPr txBox="1"/>
          <p:nvPr/>
        </p:nvSpPr>
        <p:spPr>
          <a:xfrm>
            <a:off x="658368" y="2413337"/>
            <a:ext cx="86904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L" sz="1800" b="1">
                <a:effectLst/>
              </a:rPr>
              <a:t>The Scalar Engine Limitation</a:t>
            </a:r>
          </a:p>
          <a:p>
            <a:pPr>
              <a:buNone/>
            </a:pPr>
            <a:r>
              <a:rPr lang="en-PL" sz="1800">
                <a:effectLst/>
              </a:rPr>
              <a:t>So far, our  </a:t>
            </a:r>
            <a:r>
              <a:rPr lang="en-PL" sz="1800">
                <a:effectLst/>
                <a:latin typeface="Arial"/>
              </a:rPr>
              <a:t>PRIMITIVES </a:t>
            </a:r>
            <a:r>
              <a:rPr lang="en-PL" sz="1800">
                <a:effectLst/>
              </a:rPr>
              <a:t> dictionary only knows elementwise operations:</a:t>
            </a:r>
          </a:p>
          <a:p>
            <a:pPr>
              <a:buNone/>
            </a:pPr>
            <a:r>
              <a:rPr lang="en-PL" sz="1800">
                <a:effectLst/>
              </a:rPr>
              <a:t> </a:t>
            </a:r>
            <a:r>
              <a:rPr lang="en-PL" sz="1800">
                <a:effectLst/>
                <a:latin typeface="Arial"/>
              </a:rPr>
              <a:t>add, sub, mul, div, pow, sin, exp, relu </a:t>
            </a:r>
            <a:endParaRPr lang="en-PL" sz="1800">
              <a:effectLst/>
            </a:endParaRPr>
          </a:p>
          <a:p>
            <a:pPr>
              <a:buNone/>
            </a:pPr>
            <a:r>
              <a:rPr lang="en-PL" sz="1800">
                <a:effectLst/>
              </a:rPr>
              <a:t>In scalar multiplication,  </a:t>
            </a:r>
            <a:r>
              <a:rPr lang="en-PL" sz="1800">
                <a:effectLst/>
                <a:latin typeface="Arial"/>
              </a:rPr>
              <a:t>d/da(a * b) = b </a:t>
            </a:r>
            <a:r>
              <a:rPr lang="en-PL" sz="1800">
                <a:effectLst/>
              </a:rPr>
              <a:t>. What is the derivative of a matrix with respect to another matrix?</a:t>
            </a:r>
          </a:p>
          <a:p>
            <a:pPr>
              <a:buNone/>
            </a:pPr>
            <a:endParaRPr lang="en-PL" sz="1800">
              <a:effectLst/>
            </a:endParaRPr>
          </a:p>
          <a:p>
            <a:pPr>
              <a:buNone/>
            </a:pPr>
            <a:r>
              <a:rPr lang="en-PL" sz="1800" b="1">
                <a:effectLst/>
              </a:rPr>
              <a:t>Deep Learning Reality</a:t>
            </a:r>
          </a:p>
          <a:p>
            <a:pPr>
              <a:buNone/>
            </a:pPr>
            <a:r>
              <a:rPr lang="en-PL" sz="1800">
                <a:effectLst/>
              </a:rPr>
              <a:t>Real deep learning is built on dense linear projections:</a:t>
            </a:r>
          </a:p>
          <a:p>
            <a:pPr>
              <a:buNone/>
            </a:pPr>
            <a:r>
              <a:rPr lang="en-PL" sz="1800" b="1">
                <a:effectLst/>
                <a:latin typeface="Arial"/>
              </a:rPr>
              <a:t>Y = X @ W + b </a:t>
            </a:r>
            <a:endParaRPr lang="en-PL" sz="1800" b="1">
              <a:effectLst/>
            </a:endParaRPr>
          </a:p>
          <a:p>
            <a:pPr>
              <a:buNone/>
            </a:pPr>
            <a:r>
              <a:rPr lang="en-PL" sz="1800">
                <a:effectLst/>
              </a:rPr>
              <a:t>Without a primitive rule for  </a:t>
            </a:r>
            <a:r>
              <a:rPr lang="en-PL" sz="1800">
                <a:effectLst/>
                <a:latin typeface="Arial"/>
              </a:rPr>
              <a:t>@ (matmul) </a:t>
            </a:r>
            <a:r>
              <a:rPr lang="en-PL" sz="1800">
                <a:effectLst/>
              </a:rPr>
              <a:t>, our autograd engine crashes.</a:t>
            </a:r>
          </a:p>
        </p:txBody>
      </p:sp>
    </p:spTree>
    <p:extLst>
      <p:ext uri="{BB962C8B-B14F-4D97-AF65-F5344CB8AC3E}">
        <p14:creationId xmlns:p14="http://schemas.microsoft.com/office/powerpoint/2010/main" val="1811722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CC03CBD7-17CC-AFD6-FF57-941F91399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5">
            <a:extLst>
              <a:ext uri="{FF2B5EF4-FFF2-40B4-BE49-F238E27FC236}">
                <a16:creationId xmlns:a16="http://schemas.microsoft.com/office/drawing/2014/main" id="{296A31C2-36E0-472D-7FDA-9B21AFBD03E5}"/>
              </a:ext>
            </a:extLst>
          </p:cNvPr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TENSORS: CALCULAUS THEORY</a:t>
            </a:r>
            <a:endParaRPr/>
          </a:p>
        </p:txBody>
      </p:sp>
      <p:sp>
        <p:nvSpPr>
          <p:cNvPr id="910" name="Google Shape;910;p45">
            <a:extLst>
              <a:ext uri="{FF2B5EF4-FFF2-40B4-BE49-F238E27FC236}">
                <a16:creationId xmlns:a16="http://schemas.microsoft.com/office/drawing/2014/main" id="{750209A4-F6C3-410B-CE66-5A23310A985E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lvl="0"/>
            <a:r>
              <a:rPr lang="en-PL" sz="3200"/>
              <a:t>The Textbook Answer: The Jacobian Matrix</a:t>
            </a:r>
            <a:endParaRPr/>
          </a:p>
        </p:txBody>
      </p:sp>
      <p:sp>
        <p:nvSpPr>
          <p:cNvPr id="911" name="Google Shape;911;p45">
            <a:extLst>
              <a:ext uri="{FF2B5EF4-FFF2-40B4-BE49-F238E27FC236}">
                <a16:creationId xmlns:a16="http://schemas.microsoft.com/office/drawing/2014/main" id="{DF47225B-57E4-0C34-089E-45AC52DE7BDB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8CEC87-1C62-CAF0-C869-78E46F7138D9}"/>
              </a:ext>
            </a:extLst>
          </p:cNvPr>
          <p:cNvSpPr txBox="1"/>
          <p:nvPr/>
        </p:nvSpPr>
        <p:spPr>
          <a:xfrm>
            <a:off x="658368" y="1711783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L"/>
              <a:t>Multi-variable vector-to-vector mappings:  f: ℝⁿ ➔ ℝᵐ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FCB49C-197A-3F51-B3FB-77AF73A697BA}"/>
                  </a:ext>
                </a:extLst>
              </p:cNvPr>
              <p:cNvSpPr txBox="1"/>
              <p:nvPr/>
            </p:nvSpPr>
            <p:spPr>
              <a:xfrm>
                <a:off x="658368" y="2282019"/>
                <a:ext cx="4526580" cy="2702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PL"/>
                  <a:t>When a function takes a vector of n inputs and outputs a vector of m outputs, multivariable calculus defines its derivative as the </a:t>
                </a:r>
                <a:r>
                  <a:rPr lang="en-PL" b="1"/>
                  <a:t>Jacobian matrix</a:t>
                </a:r>
                <a:r>
                  <a:rPr lang="en-PL"/>
                  <a:t> </a:t>
                </a:r>
                <a14:m>
                  <m:oMath xmlns:m="http://schemas.openxmlformats.org/officeDocument/2006/math">
                    <m:r>
                      <a:rPr lang="en-PL" i="1"/>
                      <m:t>𝐽</m:t>
                    </m:r>
                    <m:r>
                      <a:rPr lang="en-PL"/>
                      <m:t>∈</m:t>
                    </m:r>
                    <m:sSup>
                      <m:sSupPr>
                        <m:ctrlPr>
                          <a:rPr lang="en-PL"/>
                        </m:ctrlPr>
                      </m:sSupPr>
                      <m:e>
                        <m:r>
                          <a:rPr lang="en-PL"/>
                          <m:t>ℝ</m:t>
                        </m:r>
                      </m:e>
                      <m:sup>
                        <m:r>
                          <a:rPr lang="en-PL" i="1"/>
                          <m:t>𝑚</m:t>
                        </m:r>
                        <m:r>
                          <a:rPr lang="en-PL"/>
                          <m:t>×</m:t>
                        </m:r>
                        <m:r>
                          <a:rPr lang="en-PL" i="1"/>
                          <m:t>𝑛</m:t>
                        </m:r>
                      </m:sup>
                    </m:sSup>
                  </m:oMath>
                </a14:m>
                <a:r>
                  <a:rPr lang="en-PL"/>
                  <a:t>: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PL"/>
                  <a:t>Row i contains the gradient of output component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L" i="1"/>
                        </m:ctrlPr>
                      </m:sSubPr>
                      <m:e>
                        <m:r>
                          <a:rPr lang="en-PL" i="1"/>
                          <m:t>𝑓</m:t>
                        </m:r>
                      </m:e>
                      <m:sub>
                        <m:r>
                          <a:rPr lang="en-PL" i="1"/>
                          <m:t>𝑖</m:t>
                        </m:r>
                      </m:sub>
                    </m:sSub>
                  </m:oMath>
                </a14:m>
                <a:r>
                  <a:rPr lang="en-PL"/>
                  <a:t>with respect to all n inputs.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PL"/>
                  <a:t>To apply the chain rule, you multiply the incoming gradient vector by the Jacobian matrix: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PL" i="1"/>
                        </m:ctrlPr>
                      </m:accPr>
                      <m:e>
                        <m:r>
                          <a:rPr lang="en-PL" i="1"/>
                          <m:t>𝑋</m:t>
                        </m:r>
                      </m:e>
                    </m:acc>
                    <m:r>
                      <a:rPr lang="en-PL"/>
                      <m:t>=</m:t>
                    </m:r>
                    <m:acc>
                      <m:accPr>
                        <m:chr m:val="̅"/>
                        <m:ctrlPr>
                          <a:rPr lang="en-PL" i="1"/>
                        </m:ctrlPr>
                      </m:accPr>
                      <m:e>
                        <m:r>
                          <a:rPr lang="en-PL" i="1"/>
                          <m:t>𝑌</m:t>
                        </m:r>
                      </m:e>
                    </m:acc>
                    <m:r>
                      <a:rPr lang="en-PL"/>
                      <m:t>⋅</m:t>
                    </m:r>
                    <m:sSub>
                      <m:sSubPr>
                        <m:ctrlPr>
                          <a:rPr lang="en-PL" i="1"/>
                        </m:ctrlPr>
                      </m:sSubPr>
                      <m:e>
                        <m:r>
                          <a:rPr lang="en-PL" i="1"/>
                          <m:t>𝐽</m:t>
                        </m:r>
                      </m:e>
                      <m:sub>
                        <m:r>
                          <a:rPr lang="en-PL" i="1"/>
                          <m:t>𝑓</m:t>
                        </m:r>
                      </m:sub>
                    </m:sSub>
                  </m:oMath>
                </a14:m>
                <a:endParaRPr lang="en-PL"/>
              </a:p>
              <a:p>
                <a:br>
                  <a:rPr lang="en-PL"/>
                </a:br>
                <a:endParaRPr lang="en-PL"/>
              </a:p>
              <a:p>
                <a:br>
                  <a:rPr lang="en-PL"/>
                </a:br>
                <a:endParaRPr lang="en-PL">
                  <a:effectLst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FCB49C-197A-3F51-B3FB-77AF73A69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2282019"/>
                <a:ext cx="4526580" cy="2702022"/>
              </a:xfrm>
              <a:prstGeom prst="rect">
                <a:avLst/>
              </a:prstGeom>
              <a:blipFill>
                <a:blip r:embed="rId3"/>
                <a:stretch>
                  <a:fillRect l="-279" t="-467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D483426-5A51-276E-6490-E72BBC6AB8C2}"/>
              </a:ext>
            </a:extLst>
          </p:cNvPr>
          <p:cNvSpPr txBox="1"/>
          <p:nvPr/>
        </p:nvSpPr>
        <p:spPr>
          <a:xfrm>
            <a:off x="982414" y="6537960"/>
            <a:ext cx="61005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L">
                <a:hlinkClick r:id="rId4"/>
              </a:rPr>
              <a:t>https://mml-book.github.io/book/mml-book.pdf</a:t>
            </a:r>
            <a:r>
              <a:rPr lang="en-PL"/>
              <a:t> Pages 149-158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1BEECA-8C74-63F1-4198-29DF9C0E45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1922" y="4427129"/>
            <a:ext cx="2005675" cy="20056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8231C5-CF45-7631-7F47-D65F3D2C9AFE}"/>
                  </a:ext>
                </a:extLst>
              </p:cNvPr>
              <p:cNvSpPr txBox="1"/>
              <p:nvPr/>
            </p:nvSpPr>
            <p:spPr>
              <a:xfrm>
                <a:off x="5513532" y="2065359"/>
                <a:ext cx="6423910" cy="1665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PL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PL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PL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PL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L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  <m:e>
                                      <m:r>
                                        <a:rPr lang="en-PL" i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  <m:e>
                                      <m:r>
                                        <a:rPr lang="en-PL" i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r>
                                        <a:rPr lang="en-PL" i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PL" i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PL" i="0">
                                          <a:latin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PL" i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  <m:e>
                                      <m:r>
                                        <a:rPr lang="en-PL" i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PL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PL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PL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8231C5-CF45-7631-7F47-D65F3D2C9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532" y="2065359"/>
                <a:ext cx="6423910" cy="16654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4561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38BA5A65-9317-EB70-2E8C-0C0DFD9D1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5">
            <a:extLst>
              <a:ext uri="{FF2B5EF4-FFF2-40B4-BE49-F238E27FC236}">
                <a16:creationId xmlns:a16="http://schemas.microsoft.com/office/drawing/2014/main" id="{A3D3557C-DF91-B0C4-754D-BB0C72F7848A}"/>
              </a:ext>
            </a:extLst>
          </p:cNvPr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TENSORS: THE REALITY CHECK</a:t>
            </a:r>
            <a:endParaRPr/>
          </a:p>
        </p:txBody>
      </p:sp>
      <p:sp>
        <p:nvSpPr>
          <p:cNvPr id="910" name="Google Shape;910;p45">
            <a:extLst>
              <a:ext uri="{FF2B5EF4-FFF2-40B4-BE49-F238E27FC236}">
                <a16:creationId xmlns:a16="http://schemas.microsoft.com/office/drawing/2014/main" id="{7DCE6727-A818-334D-2F81-4B7DCFC1CB59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lvl="0"/>
            <a:r>
              <a:rPr lang="en-PL" sz="3200"/>
              <a:t>Why We CANNOT Compute the Jacobian</a:t>
            </a:r>
            <a:endParaRPr/>
          </a:p>
        </p:txBody>
      </p:sp>
      <p:sp>
        <p:nvSpPr>
          <p:cNvPr id="911" name="Google Shape;911;p45">
            <a:extLst>
              <a:ext uri="{FF2B5EF4-FFF2-40B4-BE49-F238E27FC236}">
                <a16:creationId xmlns:a16="http://schemas.microsoft.com/office/drawing/2014/main" id="{0A9A83DC-DDE4-3355-DB05-ED3B788A9BA2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B9534A-106C-B637-8F50-F4A09CD840E9}"/>
              </a:ext>
            </a:extLst>
          </p:cNvPr>
          <p:cNvSpPr txBox="1"/>
          <p:nvPr/>
        </p:nvSpPr>
        <p:spPr>
          <a:xfrm>
            <a:off x="658368" y="1711783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L"/>
              <a:t>The memory catastrophe of explicit matrix calculus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0184B-BEC2-E3E5-400E-EC8D03EA15C9}"/>
              </a:ext>
            </a:extLst>
          </p:cNvPr>
          <p:cNvSpPr txBox="1"/>
          <p:nvPr/>
        </p:nvSpPr>
        <p:spPr>
          <a:xfrm>
            <a:off x="683690" y="2376228"/>
            <a:ext cx="609934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L" sz="1600" b="1">
                <a:effectLst/>
              </a:rPr>
              <a:t>Modest Linear Layer</a:t>
            </a:r>
          </a:p>
          <a:p>
            <a:pPr>
              <a:buNone/>
            </a:pPr>
            <a:r>
              <a:rPr lang="en-PL" sz="1600">
                <a:effectLst/>
              </a:rPr>
              <a:t>Consider a realistic, modest linear layer:</a:t>
            </a:r>
          </a:p>
          <a:p>
            <a:pPr>
              <a:buNone/>
            </a:pPr>
            <a:r>
              <a:rPr lang="en-PL" sz="1600">
                <a:effectLst/>
              </a:rPr>
              <a:t>• Batch size  </a:t>
            </a:r>
            <a:r>
              <a:rPr lang="en-PL" sz="1600">
                <a:effectLst/>
                <a:latin typeface="Arial"/>
              </a:rPr>
              <a:t>B = 64 </a:t>
            </a:r>
            <a:r>
              <a:rPr lang="en-PL" sz="1600">
                <a:effectLst/>
              </a:rPr>
              <a:t>, features  </a:t>
            </a:r>
            <a:r>
              <a:rPr lang="en-PL" sz="1600">
                <a:effectLst/>
                <a:latin typeface="Arial"/>
              </a:rPr>
              <a:t>D = 1,024 </a:t>
            </a:r>
            <a:r>
              <a:rPr lang="en-PL" sz="1600">
                <a:effectLst/>
              </a:rPr>
              <a:t> ==&gt;  </a:t>
            </a:r>
            <a:r>
              <a:rPr lang="en-PL" sz="1600" b="1">
                <a:effectLst/>
                <a:latin typeface="Arial"/>
              </a:rPr>
              <a:t>n = 65,536</a:t>
            </a:r>
            <a:r>
              <a:rPr lang="en-PL" sz="1600">
                <a:effectLst/>
                <a:latin typeface="Arial"/>
              </a:rPr>
              <a:t> </a:t>
            </a:r>
            <a:r>
              <a:rPr lang="en-PL" sz="1600">
                <a:effectLst/>
              </a:rPr>
              <a:t> input numbers.</a:t>
            </a:r>
          </a:p>
          <a:p>
            <a:pPr>
              <a:buNone/>
            </a:pPr>
            <a:r>
              <a:rPr lang="en-PL" sz="1600">
                <a:effectLst/>
              </a:rPr>
              <a:t>• Batch size  </a:t>
            </a:r>
            <a:r>
              <a:rPr lang="en-PL" sz="1600">
                <a:effectLst/>
                <a:latin typeface="Arial"/>
              </a:rPr>
              <a:t>B = 64 </a:t>
            </a:r>
            <a:r>
              <a:rPr lang="en-PL" sz="1600">
                <a:effectLst/>
              </a:rPr>
              <a:t>, features  </a:t>
            </a:r>
            <a:r>
              <a:rPr lang="en-PL" sz="1600">
                <a:effectLst/>
                <a:latin typeface="Arial"/>
              </a:rPr>
              <a:t>H = 1,024 </a:t>
            </a:r>
            <a:r>
              <a:rPr lang="en-PL" sz="1600">
                <a:effectLst/>
              </a:rPr>
              <a:t> ==&gt;  </a:t>
            </a:r>
            <a:r>
              <a:rPr lang="en-PL" sz="1600" b="1">
                <a:effectLst/>
                <a:latin typeface="Arial"/>
              </a:rPr>
              <a:t>m = 65,536</a:t>
            </a:r>
            <a:r>
              <a:rPr lang="en-PL" sz="1600">
                <a:effectLst/>
                <a:latin typeface="Arial"/>
              </a:rPr>
              <a:t> </a:t>
            </a:r>
            <a:r>
              <a:rPr lang="en-PL" sz="1600">
                <a:effectLst/>
              </a:rPr>
              <a:t> output numbers.</a:t>
            </a:r>
          </a:p>
          <a:p>
            <a:pPr>
              <a:buNone/>
            </a:pPr>
            <a:r>
              <a:rPr lang="en-PL" sz="1600" b="1">
                <a:effectLst/>
              </a:rPr>
              <a:t>The Memory Catastrophe</a:t>
            </a:r>
          </a:p>
          <a:p>
            <a:pPr>
              <a:buNone/>
            </a:pPr>
            <a:r>
              <a:rPr lang="en-PL" sz="1600">
                <a:effectLst/>
              </a:rPr>
              <a:t>Entries in  </a:t>
            </a:r>
            <a:r>
              <a:rPr lang="en-PL" sz="1600">
                <a:effectLst/>
                <a:latin typeface="Arial"/>
              </a:rPr>
              <a:t>J </a:t>
            </a:r>
            <a:r>
              <a:rPr lang="en-PL" sz="1600">
                <a:effectLst/>
              </a:rPr>
              <a:t> = 65,536 × 65,536:</a:t>
            </a:r>
          </a:p>
          <a:p>
            <a:pPr>
              <a:buNone/>
            </a:pPr>
            <a:r>
              <a:rPr lang="en-PL" sz="1600">
                <a:effectLst/>
              </a:rPr>
              <a:t> </a:t>
            </a:r>
            <a:r>
              <a:rPr lang="en-PL" sz="1600" b="1">
                <a:effectLst/>
                <a:latin typeface="Arial"/>
              </a:rPr>
              <a:t>≈ 4.29 × 10⁹ floating-point numbers!</a:t>
            </a:r>
            <a:r>
              <a:rPr lang="en-PL" sz="1600">
                <a:effectLst/>
                <a:latin typeface="Arial"/>
              </a:rPr>
              <a:t> </a:t>
            </a:r>
            <a:endParaRPr lang="en-PL" sz="1600">
              <a:effectLst/>
            </a:endParaRPr>
          </a:p>
          <a:p>
            <a:pPr>
              <a:buNone/>
            </a:pPr>
            <a:r>
              <a:rPr lang="en-PL" sz="1600">
                <a:effectLst/>
              </a:rPr>
              <a:t>Memory required (4.29 × 10⁹ × 4 bytes):  </a:t>
            </a:r>
            <a:r>
              <a:rPr lang="en-PL" sz="1600" b="1">
                <a:effectLst/>
                <a:latin typeface="Arial"/>
              </a:rPr>
              <a:t>≈ 17.2 Gigabytes of RAM</a:t>
            </a:r>
            <a:r>
              <a:rPr lang="en-PL" sz="1600">
                <a:effectLst/>
                <a:latin typeface="Arial"/>
              </a:rPr>
              <a:t> </a:t>
            </a:r>
            <a:r>
              <a:rPr lang="en-PL" sz="1600">
                <a:effectLst/>
              </a:rPr>
              <a:t> for ONE layer, ONE mini-batch!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8C414D-F2D4-A3EC-23D3-837BB6954109}"/>
              </a:ext>
            </a:extLst>
          </p:cNvPr>
          <p:cNvSpPr txBox="1"/>
          <p:nvPr/>
        </p:nvSpPr>
        <p:spPr>
          <a:xfrm>
            <a:off x="517489" y="6054165"/>
            <a:ext cx="93499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L">
                <a:effectLst/>
              </a:rPr>
              <a:t>Calculating the full Jacobian is mathematically possible, but computationally expensive. We must find a shortcut.</a:t>
            </a:r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77365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E093D484-4C6D-966C-948E-64AF6B16A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5">
            <a:extLst>
              <a:ext uri="{FF2B5EF4-FFF2-40B4-BE49-F238E27FC236}">
                <a16:creationId xmlns:a16="http://schemas.microsoft.com/office/drawing/2014/main" id="{D8C6EFF8-FBCF-5268-8140-E079FC66A8A4}"/>
              </a:ext>
            </a:extLst>
          </p:cNvPr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TENSORS: THE REALITY CHECK</a:t>
            </a:r>
            <a:endParaRPr/>
          </a:p>
        </p:txBody>
      </p:sp>
      <p:sp>
        <p:nvSpPr>
          <p:cNvPr id="910" name="Google Shape;910;p45">
            <a:extLst>
              <a:ext uri="{FF2B5EF4-FFF2-40B4-BE49-F238E27FC236}">
                <a16:creationId xmlns:a16="http://schemas.microsoft.com/office/drawing/2014/main" id="{0165D89A-089F-60D8-8C05-66A864778E86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lvl="0"/>
            <a:r>
              <a:rPr lang="en-PL" sz="3200"/>
              <a:t>We Don't Want the Matrix - We Want the Product!</a:t>
            </a:r>
            <a:endParaRPr/>
          </a:p>
        </p:txBody>
      </p:sp>
      <p:sp>
        <p:nvSpPr>
          <p:cNvPr id="911" name="Google Shape;911;p45">
            <a:extLst>
              <a:ext uri="{FF2B5EF4-FFF2-40B4-BE49-F238E27FC236}">
                <a16:creationId xmlns:a16="http://schemas.microsoft.com/office/drawing/2014/main" id="{9F0F4DEA-3883-738F-2224-07B7B06DB636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DDC21-48B4-1AF6-FC29-2E95FD2C9540}"/>
              </a:ext>
            </a:extLst>
          </p:cNvPr>
          <p:cNvSpPr txBox="1"/>
          <p:nvPr/>
        </p:nvSpPr>
        <p:spPr>
          <a:xfrm>
            <a:off x="549079" y="1618569"/>
            <a:ext cx="924408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L" b="1"/>
              <a:t>The VJP Collapse</a:t>
            </a:r>
          </a:p>
          <a:p>
            <a:r>
              <a:rPr lang="en-PL"/>
              <a:t>In deep learning, we never need the standalone Jacobian  J .</a:t>
            </a:r>
          </a:p>
          <a:p>
            <a:r>
              <a:rPr lang="en-PL"/>
              <a:t>We only ever need the product of the incoming loss gradient  Ȳ  with  J :  </a:t>
            </a:r>
            <a:r>
              <a:rPr lang="en-PL" b="1"/>
              <a:t>X̄ = Ȳ · J</a:t>
            </a:r>
            <a:r>
              <a:rPr lang="en-PL"/>
              <a:t>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ADC293-C4BF-EF04-ADB8-417F7E79C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649526"/>
            <a:ext cx="9925806" cy="370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728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8AFE212E-A0A4-BC05-272F-835E19938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666;p32">
            <a:extLst>
              <a:ext uri="{FF2B5EF4-FFF2-40B4-BE49-F238E27FC236}">
                <a16:creationId xmlns:a16="http://schemas.microsoft.com/office/drawing/2014/main" id="{EA8A8B00-D751-756B-31D0-9EEC9F21C3A3}"/>
              </a:ext>
            </a:extLst>
          </p:cNvPr>
          <p:cNvSpPr/>
          <p:nvPr/>
        </p:nvSpPr>
        <p:spPr>
          <a:xfrm>
            <a:off x="5309921" y="4594213"/>
            <a:ext cx="6471837" cy="244389"/>
          </a:xfrm>
          <a:prstGeom prst="roundRect">
            <a:avLst>
              <a:gd name="adj" fmla="val 16667"/>
            </a:avLst>
          </a:prstGeom>
          <a:solidFill>
            <a:srgbClr val="1D2431"/>
          </a:solidFill>
          <a:ln w="9525" cap="flat" cmpd="sng">
            <a:solidFill>
              <a:srgbClr val="1D243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64;p47">
            <a:extLst>
              <a:ext uri="{FF2B5EF4-FFF2-40B4-BE49-F238E27FC236}">
                <a16:creationId xmlns:a16="http://schemas.microsoft.com/office/drawing/2014/main" id="{B1CD8A70-178C-9D88-3FD3-E063240541D0}"/>
              </a:ext>
            </a:extLst>
          </p:cNvPr>
          <p:cNvSpPr/>
          <p:nvPr/>
        </p:nvSpPr>
        <p:spPr>
          <a:xfrm>
            <a:off x="5309921" y="3969762"/>
            <a:ext cx="3963054" cy="355308"/>
          </a:xfrm>
          <a:prstGeom prst="roundRect">
            <a:avLst>
              <a:gd name="adj" fmla="val 16667"/>
            </a:avLst>
          </a:prstGeom>
          <a:solidFill>
            <a:srgbClr val="E0F4F1"/>
          </a:solidFill>
          <a:ln w="9525" cap="flat" cmpd="sng">
            <a:solidFill>
              <a:srgbClr val="E0F4F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45">
            <a:extLst>
              <a:ext uri="{FF2B5EF4-FFF2-40B4-BE49-F238E27FC236}">
                <a16:creationId xmlns:a16="http://schemas.microsoft.com/office/drawing/2014/main" id="{9A2018A1-0400-F3F6-10A7-9C29E5DE73D9}"/>
              </a:ext>
            </a:extLst>
          </p:cNvPr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TENSORS: THE REALITY CHECK</a:t>
            </a:r>
            <a:endParaRPr/>
          </a:p>
        </p:txBody>
      </p:sp>
      <p:sp>
        <p:nvSpPr>
          <p:cNvPr id="911" name="Google Shape;911;p45">
            <a:extLst>
              <a:ext uri="{FF2B5EF4-FFF2-40B4-BE49-F238E27FC236}">
                <a16:creationId xmlns:a16="http://schemas.microsoft.com/office/drawing/2014/main" id="{14D3C76A-FCD2-37A0-3FBC-169EE88528ED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433B10-5AE0-7FB2-0167-83C209D0EABA}"/>
                  </a:ext>
                </a:extLst>
              </p:cNvPr>
              <p:cNvSpPr txBox="1"/>
              <p:nvPr/>
            </p:nvSpPr>
            <p:spPr>
              <a:xfrm>
                <a:off x="410242" y="1813400"/>
                <a:ext cx="3816092" cy="3953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L" sz="1800" b="1"/>
                  <a:t>The VJP Collapse</a:t>
                </a:r>
              </a:p>
              <a:p>
                <a:r>
                  <a:rPr lang="en-PL" sz="1800"/>
                  <a:t>In deep learning, we never need the standalone Jacobian  J .</a:t>
                </a:r>
              </a:p>
              <a:p>
                <a:r>
                  <a:rPr lang="en-PL" sz="1800"/>
                  <a:t>We only ever need the product of the incoming loss gradient  Ȳ  with  J :  </a:t>
                </a:r>
                <a:r>
                  <a:rPr lang="en-PL" sz="1800" b="1"/>
                  <a:t>X̄ = Ȳ · J</a:t>
                </a:r>
              </a:p>
              <a:p>
                <a:endParaRPr lang="en-PL" sz="1800" b="1"/>
              </a:p>
              <a:p>
                <a:r>
                  <a:rPr lang="en-PL" sz="1800" b="1"/>
                  <a:t>Magic of Matrix Multiplication: </a:t>
                </a:r>
                <a:r>
                  <a:rPr lang="en-PL" sz="1800"/>
                  <a:t> </a:t>
                </a:r>
                <a:br>
                  <a:rPr lang="en-PL" sz="1800"/>
                </a:br>
                <a:r>
                  <a:rPr lang="en-PL" sz="1800" b="1"/>
                  <a:t>X̄ = Y · J</a:t>
                </a:r>
                <a:r>
                  <a:rPr lang="en-PL" sz="1800"/>
                  <a:t> collapses into two clean matrix multiplies: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PL" sz="1800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f>
                            <m:fPr>
                              <m:ctrlPr>
                                <a:rPr lang="en-PL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PL" sz="18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PL" sz="1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PL" sz="18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PL" sz="1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den>
                          </m:f>
                          <m:r>
                            <a:rPr lang="en-PL" sz="18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PL" sz="18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PL" sz="1800" i="0">
                              <a:latin typeface="Cambria Math" panose="02040503050406030204" pitchFamily="18" charset="0"/>
                            </a:rPr>
                            <m:t>@</m:t>
                          </m:r>
                          <m:sSup>
                            <m:sSupPr>
                              <m:ctrlPr>
                                <a:rPr lang="en-PL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L" sz="18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PL" sz="1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mr>
                    </m:m>
                  </m:oMath>
                </a14:m>
                <a:endParaRPr lang="en-PL" sz="1800"/>
              </a:p>
              <a:p>
                <a:r>
                  <a:rPr lang="en-PL" sz="1800"/>
                  <a:t>•  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PL" sz="1800" b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f>
                            <m:fPr>
                              <m:ctrlPr>
                                <a:rPr lang="en-PL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PL" sz="1800" b="1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PL" sz="1800" b="1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PL" sz="1800" b="1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PL" sz="1800" b="1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en-PL" sz="1800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PL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L" sz="1800" b="1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PL" sz="1800" b="1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PL" sz="1800" b="1" i="0" smtClean="0">
                              <a:latin typeface="Cambria Math" panose="02040503050406030204" pitchFamily="18" charset="0"/>
                            </a:rPr>
                            <m:t>@</m:t>
                          </m:r>
                          <m:r>
                            <a:rPr lang="en-PL" sz="1800" b="1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mr>
                    </m:m>
                  </m:oMath>
                </a14:m>
                <a:endParaRPr lang="en-PL" sz="1800" b="1"/>
              </a:p>
              <a:p>
                <a:r>
                  <a:rPr lang="en-PL" sz="1800"/>
                  <a:t> 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433B10-5AE0-7FB2-0167-83C209D0E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42" y="1813400"/>
                <a:ext cx="3816092" cy="3953775"/>
              </a:xfrm>
              <a:prstGeom prst="rect">
                <a:avLst/>
              </a:prstGeom>
              <a:blipFill>
                <a:blip r:embed="rId3"/>
                <a:stretch>
                  <a:fillRect l="-1329" t="-639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D1E144-9EEA-058A-2E56-9792B833F556}"/>
                  </a:ext>
                </a:extLst>
              </p:cNvPr>
              <p:cNvSpPr txBox="1"/>
              <p:nvPr/>
            </p:nvSpPr>
            <p:spPr>
              <a:xfrm>
                <a:off x="5867399" y="2056829"/>
                <a:ext cx="3396343" cy="13721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PL" b="1">
                    <a:effectLst/>
                  </a:rPr>
                  <a:t>Dimensional Sanity Check</a:t>
                </a:r>
              </a:p>
              <a:p>
                <a:pPr>
                  <a:buNone/>
                </a:pPr>
                <a:r>
                  <a:rPr lang="en-PL">
                    <a:effectLst/>
                  </a:rPr>
                  <a:t>•  </a:t>
                </a:r>
                <a:r>
                  <a:rPr lang="en-PL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PL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PL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PL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PL" i="1"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a:rPr lang="en-PL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L">
                    <a:effectLst/>
                  </a:rPr>
                  <a:t>must be  </a:t>
                </a:r>
                <a:r>
                  <a:rPr lang="en-PL">
                    <a:effectLst/>
                    <a:latin typeface="Arial"/>
                  </a:rPr>
                  <a:t>(B, D) </a:t>
                </a:r>
                <a:r>
                  <a:rPr lang="en-PL">
                    <a:effectLst/>
                  </a:rPr>
                  <a:t>:  </a:t>
                </a:r>
                <a:r>
                  <a:rPr lang="en-PL">
                    <a:effectLst/>
                    <a:latin typeface="Arial"/>
                  </a:rPr>
                  <a:t>Ȳ (B, H) @ W.T (H, D) ➔ (B, D) </a:t>
                </a:r>
                <a:r>
                  <a:rPr lang="en-PL">
                    <a:effectLst/>
                  </a:rPr>
                  <a:t> [H cancels]</a:t>
                </a:r>
              </a:p>
              <a:p>
                <a:pPr>
                  <a:buNone/>
                </a:pPr>
                <a:r>
                  <a:rPr lang="en-PL">
                    <a:effectLst/>
                  </a:rPr>
                  <a:t>•  </a:t>
                </a:r>
                <a:r>
                  <a:rPr lang="en-PL" b="1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L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PL" b="1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PL" b="1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PL" b="1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PL" b="1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PL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L">
                    <a:effectLst/>
                  </a:rPr>
                  <a:t>must be  </a:t>
                </a:r>
                <a:r>
                  <a:rPr lang="en-PL">
                    <a:effectLst/>
                    <a:latin typeface="Arial"/>
                  </a:rPr>
                  <a:t>(D, H) </a:t>
                </a:r>
                <a:r>
                  <a:rPr lang="en-PL">
                    <a:effectLst/>
                  </a:rPr>
                  <a:t>:  </a:t>
                </a:r>
                <a:r>
                  <a:rPr lang="en-PL">
                    <a:effectLst/>
                    <a:latin typeface="Arial"/>
                  </a:rPr>
                  <a:t>X.T (D, B) @ Ȳ (B, H) ➔ (D, H) </a:t>
                </a:r>
                <a:r>
                  <a:rPr lang="en-PL">
                    <a:effectLst/>
                  </a:rPr>
                  <a:t> [B cancels]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D1E144-9EEA-058A-2E56-9792B833F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399" y="2056829"/>
                <a:ext cx="3396343" cy="1372171"/>
              </a:xfrm>
              <a:prstGeom prst="rect">
                <a:avLst/>
              </a:prstGeom>
              <a:blipFill>
                <a:blip r:embed="rId4"/>
                <a:stretch>
                  <a:fillRect l="-372" b="-3636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1B0E7ED-122A-0A21-15D6-449AEF2D94E7}"/>
              </a:ext>
            </a:extLst>
          </p:cNvPr>
          <p:cNvSpPr txBox="1"/>
          <p:nvPr/>
        </p:nvSpPr>
        <p:spPr>
          <a:xfrm>
            <a:off x="5292718" y="398468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L" b="1">
                <a:effectLst/>
              </a:rPr>
              <a:t>Autograd Primitive Rule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C06887-7D8E-9B00-BA42-5E15912A4D58}"/>
              </a:ext>
            </a:extLst>
          </p:cNvPr>
          <p:cNvSpPr txBox="1"/>
          <p:nvPr/>
        </p:nvSpPr>
        <p:spPr>
          <a:xfrm>
            <a:off x="5292718" y="4561601"/>
            <a:ext cx="6489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L" sz="1600">
                <a:solidFill>
                  <a:schemeClr val="bg1"/>
                </a:solidFill>
                <a:effectLst/>
              </a:rPr>
              <a:t>"matmul": lambda grad, left, right, args: (grad @ right.T, left.T @ grad)</a:t>
            </a:r>
            <a:endParaRPr lang="en-PL" sz="1600">
              <a:solidFill>
                <a:schemeClr val="bg1"/>
              </a:solidFill>
            </a:endParaRPr>
          </a:p>
        </p:txBody>
      </p:sp>
      <p:sp>
        <p:nvSpPr>
          <p:cNvPr id="11" name="Google Shape;667;p32">
            <a:extLst>
              <a:ext uri="{FF2B5EF4-FFF2-40B4-BE49-F238E27FC236}">
                <a16:creationId xmlns:a16="http://schemas.microsoft.com/office/drawing/2014/main" id="{2CED2FB9-432F-E249-EDDF-398A40DE02AC}"/>
              </a:ext>
            </a:extLst>
          </p:cNvPr>
          <p:cNvSpPr txBox="1"/>
          <p:nvPr/>
        </p:nvSpPr>
        <p:spPr>
          <a:xfrm>
            <a:off x="658368" y="618422"/>
            <a:ext cx="9624884" cy="656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lvl="0"/>
            <a:r>
              <a:rPr lang="en-PL" sz="3200"/>
              <a:t>We Don't Want the Matrix - We Want the Product!</a:t>
            </a: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3877194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D91979-C69B-7F96-2CB1-EC24AE183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348" y="172768"/>
            <a:ext cx="7682524" cy="6107607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45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1A5479-9702-6BAC-23AF-1B02CC349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77" y="288485"/>
            <a:ext cx="7896559" cy="6060608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A9F5F6-0E61-C15E-1F1D-356F9A942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643" y="4055118"/>
            <a:ext cx="2671518" cy="2671518"/>
          </a:xfrm>
          <a:prstGeom prst="rect">
            <a:avLst/>
          </a:prstGeom>
        </p:spPr>
      </p:pic>
      <p:sp>
        <p:nvSpPr>
          <p:cNvPr id="4" name="Google Shape;419;p20">
            <a:extLst>
              <a:ext uri="{FF2B5EF4-FFF2-40B4-BE49-F238E27FC236}">
                <a16:creationId xmlns:a16="http://schemas.microsoft.com/office/drawing/2014/main" id="{29E9231E-A17B-774D-0E8C-2B836235F9F4}"/>
              </a:ext>
            </a:extLst>
          </p:cNvPr>
          <p:cNvSpPr/>
          <p:nvPr/>
        </p:nvSpPr>
        <p:spPr>
          <a:xfrm>
            <a:off x="9496514" y="3369319"/>
            <a:ext cx="2194560" cy="594360"/>
          </a:xfrm>
          <a:prstGeom prst="roundRect">
            <a:avLst>
              <a:gd name="adj" fmla="val 16667"/>
            </a:avLst>
          </a:prstGeom>
          <a:solidFill>
            <a:srgbClr val="E0F4F1"/>
          </a:solidFill>
          <a:ln w="9525" cap="flat" cmpd="sng">
            <a:solidFill>
              <a:srgbClr val="E0F4F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420;p20">
            <a:extLst>
              <a:ext uri="{FF2B5EF4-FFF2-40B4-BE49-F238E27FC236}">
                <a16:creationId xmlns:a16="http://schemas.microsoft.com/office/drawing/2014/main" id="{A3303B5D-C1F0-3FEB-D457-E2D011DECA3A}"/>
              </a:ext>
            </a:extLst>
          </p:cNvPr>
          <p:cNvSpPr txBox="1"/>
          <p:nvPr/>
        </p:nvSpPr>
        <p:spPr>
          <a:xfrm>
            <a:off x="9661106" y="3460758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54585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8059B824-A92A-2CB5-4867-DDDA4A852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>
            <a:extLst>
              <a:ext uri="{FF2B5EF4-FFF2-40B4-BE49-F238E27FC236}">
                <a16:creationId xmlns:a16="http://schemas.microsoft.com/office/drawing/2014/main" id="{A8AAD084-E90A-7CEA-B60E-50C74454F525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 fontScale="85000" lnSpcReduction="10000"/>
          </a:bodyPr>
          <a:lstStyle/>
          <a:p>
            <a:pPr lvl="0"/>
            <a:r>
              <a:rPr lang="en-US" sz="40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Let’s move to the final branch: </a:t>
            </a:r>
            <a:r>
              <a:rPr lang="en-GB" sz="2800" b="1">
                <a:solidFill>
                  <a:schemeClr val="bg2"/>
                </a:solidFill>
              </a:rPr>
              <a:t>feat/05-nn-framework </a:t>
            </a:r>
            <a:r>
              <a:rPr lang="en-GB" sz="2800" b="1">
                <a:solidFill>
                  <a:schemeClr val="tx1"/>
                </a:solidFill>
              </a:rPr>
              <a:t>or</a:t>
            </a:r>
            <a:r>
              <a:rPr lang="en-GB" sz="2800" b="1">
                <a:solidFill>
                  <a:schemeClr val="bg2"/>
                </a:solidFill>
              </a:rPr>
              <a:t> main</a:t>
            </a:r>
            <a:endParaRPr sz="2000">
              <a:solidFill>
                <a:schemeClr val="bg2"/>
              </a:solidFill>
            </a:endParaRPr>
          </a:p>
        </p:txBody>
      </p:sp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8CDE779F-6DC6-C195-09C3-955595778CEE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851D7333-6B3B-364E-FDD0-EF1D714835BF}"/>
              </a:ext>
            </a:extLst>
          </p:cNvPr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D899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pic>
        <p:nvPicPr>
          <p:cNvPr id="3" name="Google Shape;159;g3fba26f61f4_0_353">
            <a:extLst>
              <a:ext uri="{FF2B5EF4-FFF2-40B4-BE49-F238E27FC236}">
                <a16:creationId xmlns:a16="http://schemas.microsoft.com/office/drawing/2014/main" id="{43619BF3-9889-F954-BC86-E9166E0BD99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637" y="2407497"/>
            <a:ext cx="2596725" cy="25967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6752CA-2253-528E-D112-C7AEF638F419}"/>
                  </a:ext>
                </a:extLst>
              </p14:cNvPr>
              <p14:cNvContentPartPr/>
              <p14:nvPr/>
            </p14:nvContentPartPr>
            <p14:xfrm>
              <a:off x="4450914" y="1124069"/>
              <a:ext cx="9000" cy="4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6752CA-2253-528E-D112-C7AEF638F4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44794" y="1117949"/>
                <a:ext cx="21240" cy="1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1153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E2373281-3E55-8BAD-5B18-AF8D9F3CC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5">
            <a:extLst>
              <a:ext uri="{FF2B5EF4-FFF2-40B4-BE49-F238E27FC236}">
                <a16:creationId xmlns:a16="http://schemas.microsoft.com/office/drawing/2014/main" id="{70D01E8D-4067-E339-6DC0-F0EFC43CD736}"/>
              </a:ext>
            </a:extLst>
          </p:cNvPr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[NEURAL NETWORKS]  [CORE ABSTRACTIONS]</a:t>
            </a:r>
            <a:endParaRPr/>
          </a:p>
        </p:txBody>
      </p:sp>
      <p:sp>
        <p:nvSpPr>
          <p:cNvPr id="910" name="Google Shape;910;p45">
            <a:extLst>
              <a:ext uri="{FF2B5EF4-FFF2-40B4-BE49-F238E27FC236}">
                <a16:creationId xmlns:a16="http://schemas.microsoft.com/office/drawing/2014/main" id="{300785D3-0AF7-3E14-D55F-8C35286197E3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lvl="0"/>
            <a:r>
              <a:rPr lang="en-PL" sz="3200"/>
              <a:t>From Raw Tensors to Composable Blocks</a:t>
            </a:r>
            <a:endParaRPr/>
          </a:p>
        </p:txBody>
      </p:sp>
      <p:sp>
        <p:nvSpPr>
          <p:cNvPr id="911" name="Google Shape;911;p45">
            <a:extLst>
              <a:ext uri="{FF2B5EF4-FFF2-40B4-BE49-F238E27FC236}">
                <a16:creationId xmlns:a16="http://schemas.microsoft.com/office/drawing/2014/main" id="{55831E8B-8B3D-57DB-7663-CA513096FC6E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1A121-6B24-CD44-1B41-BC80119111BF}"/>
              </a:ext>
            </a:extLst>
          </p:cNvPr>
          <p:cNvSpPr txBox="1"/>
          <p:nvPr/>
        </p:nvSpPr>
        <p:spPr>
          <a:xfrm>
            <a:off x="658368" y="1711783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L"/>
              <a:t>Why we need higher-level abstractions?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AA463E-D6C1-A9EA-21C1-B2A7B0E7C1CD}"/>
              </a:ext>
            </a:extLst>
          </p:cNvPr>
          <p:cNvSpPr txBox="1"/>
          <p:nvPr/>
        </p:nvSpPr>
        <p:spPr>
          <a:xfrm>
            <a:off x="658368" y="2282019"/>
            <a:ext cx="452658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L" b="1"/>
              <a:t>The Scaling Bottleneck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PL" b="1"/>
              <a:t>What we have so far: </a:t>
            </a:r>
            <a:r>
              <a:rPr lang="en-PL"/>
              <a:t>Tensors, matrix multiplication ( @ ), and the  backward()  engine.</a:t>
            </a:r>
            <a:br>
              <a:rPr lang="en-PL"/>
            </a:br>
            <a:endParaRPr lang="en-PL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PL" b="1"/>
              <a:t>The Problem: </a:t>
            </a:r>
            <a:r>
              <a:rPr lang="en-PL"/>
              <a:t>Training a multi-layer network by manually managing loose arrays  [W1, W2, W3]  and  [b1, b2, b3] , writing manual forward loops, and manually writing gradient descent steps is brittle and unscalable.</a:t>
            </a:r>
          </a:p>
          <a:p>
            <a:br>
              <a:rPr lang="en-PL"/>
            </a:br>
            <a:endParaRPr lang="en-PL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99F13-2466-529B-E3AD-1E8C8C0B7A11}"/>
              </a:ext>
            </a:extLst>
          </p:cNvPr>
          <p:cNvSpPr txBox="1"/>
          <p:nvPr/>
        </p:nvSpPr>
        <p:spPr>
          <a:xfrm>
            <a:off x="6092652" y="1847087"/>
            <a:ext cx="60993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L" b="1">
                <a:effectLst/>
              </a:rPr>
              <a:t>The Solution: 5 Clean Pillars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L" b="1">
                <a:effectLst/>
              </a:rPr>
              <a:t>Parameter ➔ Module ➔ Loss ➔ </a:t>
            </a:r>
            <a:r>
              <a:rPr lang="en-PL" b="1"/>
              <a:t>Optimizer ➔ Dataset ➔ Dataloader </a:t>
            </a:r>
            <a:endParaRPr lang="en-PL">
              <a:effectLst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L" b="1">
                <a:effectLst/>
              </a:rPr>
              <a:t>Parameter: </a:t>
            </a:r>
            <a:r>
              <a:rPr lang="en-PL">
                <a:effectLst/>
              </a:rPr>
              <a:t>Distinguishes trainable weights from temporary activations.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L" b="1">
                <a:effectLst/>
              </a:rPr>
              <a:t>Module: </a:t>
            </a:r>
            <a:r>
              <a:rPr lang="en-PL">
                <a:effectLst/>
              </a:rPr>
              <a:t>Encapsulates state, submodules, and forward logic.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L" b="1">
                <a:effectLst/>
              </a:rPr>
              <a:t>Loss &amp; Optimizer: </a:t>
            </a:r>
            <a:r>
              <a:rPr lang="en-PL">
                <a:effectLst/>
              </a:rPr>
              <a:t>Decouple objective evaluation and parameter update rules.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L" b="1"/>
              <a:t>Dataset </a:t>
            </a:r>
            <a:r>
              <a:rPr lang="en-PL"/>
              <a:t>: Returns a single example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L" b="1"/>
              <a:t>Dataloader: </a:t>
            </a:r>
            <a:r>
              <a:rPr lang="en-PL"/>
              <a:t>Combines dataset with sampler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PL">
              <a:effectLst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PL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71098F-B077-8F31-BBA3-455A011EE478}"/>
              </a:ext>
            </a:extLst>
          </p:cNvPr>
          <p:cNvSpPr txBox="1"/>
          <p:nvPr/>
        </p:nvSpPr>
        <p:spPr>
          <a:xfrm>
            <a:off x="658368" y="5770366"/>
            <a:ext cx="96363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L">
                <a:effectLst/>
              </a:rPr>
              <a:t>Autograd provides the calculus. </a:t>
            </a:r>
            <a:br>
              <a:rPr lang="en-PL">
                <a:effectLst/>
              </a:rPr>
            </a:br>
            <a:r>
              <a:rPr lang="en-PL">
                <a:effectLst/>
              </a:rPr>
              <a:t>The neural network framework</a:t>
            </a:r>
            <a:r>
              <a:rPr lang="en-PL"/>
              <a:t> </a:t>
            </a:r>
            <a:r>
              <a:rPr lang="en-PL">
                <a:effectLst/>
              </a:rPr>
              <a:t>provides the modular LEGO blocks to build architectures.</a:t>
            </a:r>
            <a:endParaRPr lang="en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425BF8-CD8D-00C3-88FC-72821DCA5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9276" y="4632238"/>
            <a:ext cx="2027107" cy="2027107"/>
          </a:xfrm>
          <a:prstGeom prst="rect">
            <a:avLst/>
          </a:prstGeom>
        </p:spPr>
      </p:pic>
      <p:sp>
        <p:nvSpPr>
          <p:cNvPr id="12" name="Google Shape;419;p20">
            <a:extLst>
              <a:ext uri="{FF2B5EF4-FFF2-40B4-BE49-F238E27FC236}">
                <a16:creationId xmlns:a16="http://schemas.microsoft.com/office/drawing/2014/main" id="{8A3BFB8B-5851-03AE-6EE0-4CA6B994072B}"/>
              </a:ext>
            </a:extLst>
          </p:cNvPr>
          <p:cNvSpPr/>
          <p:nvPr/>
        </p:nvSpPr>
        <p:spPr>
          <a:xfrm>
            <a:off x="9705550" y="4129319"/>
            <a:ext cx="2194560" cy="594360"/>
          </a:xfrm>
          <a:prstGeom prst="roundRect">
            <a:avLst>
              <a:gd name="adj" fmla="val 16667"/>
            </a:avLst>
          </a:prstGeom>
          <a:solidFill>
            <a:srgbClr val="E0F4F1"/>
          </a:solidFill>
          <a:ln w="9525" cap="flat" cmpd="sng">
            <a:solidFill>
              <a:srgbClr val="E0F4F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420;p20">
            <a:extLst>
              <a:ext uri="{FF2B5EF4-FFF2-40B4-BE49-F238E27FC236}">
                <a16:creationId xmlns:a16="http://schemas.microsoft.com/office/drawing/2014/main" id="{074168AF-F803-BBBE-FC8B-57718CDDCC7E}"/>
              </a:ext>
            </a:extLst>
          </p:cNvPr>
          <p:cNvSpPr txBox="1"/>
          <p:nvPr/>
        </p:nvSpPr>
        <p:spPr>
          <a:xfrm>
            <a:off x="9870142" y="4220758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323830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84B0A726-6EB6-24AD-5A96-FEF77439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>
            <a:extLst>
              <a:ext uri="{FF2B5EF4-FFF2-40B4-BE49-F238E27FC236}">
                <a16:creationId xmlns:a16="http://schemas.microsoft.com/office/drawing/2014/main" id="{9458973F-549E-FA8A-3306-B92D5ED9EDB0}"/>
              </a:ext>
            </a:extLst>
          </p:cNvPr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FUTURE?</a:t>
            </a:r>
            <a:endParaRPr/>
          </a:p>
        </p:txBody>
      </p:sp>
      <p:sp>
        <p:nvSpPr>
          <p:cNvPr id="221" name="Google Shape;221;p12">
            <a:extLst>
              <a:ext uri="{FF2B5EF4-FFF2-40B4-BE49-F238E27FC236}">
                <a16:creationId xmlns:a16="http://schemas.microsoft.com/office/drawing/2014/main" id="{C5762E81-EF87-B33F-5118-15536F8EE335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lvl="0"/>
            <a:r>
              <a:rPr lang="en-GB" sz="3200" b="1"/>
              <a:t>What do we still missing? </a:t>
            </a:r>
            <a:endParaRPr lang="en-GB" b="1"/>
          </a:p>
        </p:txBody>
      </p:sp>
      <p:sp>
        <p:nvSpPr>
          <p:cNvPr id="222" name="Google Shape;222;p12">
            <a:extLst>
              <a:ext uri="{FF2B5EF4-FFF2-40B4-BE49-F238E27FC236}">
                <a16:creationId xmlns:a16="http://schemas.microsoft.com/office/drawing/2014/main" id="{F412281D-1907-D65A-0EFF-BC2A0E25411B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CFFDFD-E463-4FE4-31AE-71DDCE771746}"/>
              </a:ext>
            </a:extLst>
          </p:cNvPr>
          <p:cNvSpPr txBox="1"/>
          <p:nvPr/>
        </p:nvSpPr>
        <p:spPr>
          <a:xfrm>
            <a:off x="405383" y="1934257"/>
            <a:ext cx="676914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PL" sz="1800"/>
              <a:t>More layers (Conv, attention)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PL" sz="1800"/>
              <a:t>Linear algebra taken for free (numpy)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PL" sz="1800"/>
              <a:t>Compiler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PL" sz="1800"/>
              <a:t>No hardware acceleration (CuDA)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PL" sz="1800"/>
              <a:t>Tensor Parallel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PL" sz="1800"/>
              <a:t>….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endParaRPr lang="en-PL" sz="2800"/>
          </a:p>
          <a:p>
            <a:pPr marL="457200" indent="-457200" fontAlgn="ctr">
              <a:buFont typeface="Arial" panose="020B0604020202020204" pitchFamily="34" charset="0"/>
              <a:buChar char="•"/>
            </a:pPr>
            <a:endParaRPr lang="en-PL" sz="2800"/>
          </a:p>
        </p:txBody>
      </p:sp>
    </p:spTree>
    <p:extLst>
      <p:ext uri="{BB962C8B-B14F-4D97-AF65-F5344CB8AC3E}">
        <p14:creationId xmlns:p14="http://schemas.microsoft.com/office/powerpoint/2010/main" val="30939984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5FEA4592-5E9D-14BB-7F97-D838A84D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>
            <a:extLst>
              <a:ext uri="{FF2B5EF4-FFF2-40B4-BE49-F238E27FC236}">
                <a16:creationId xmlns:a16="http://schemas.microsoft.com/office/drawing/2014/main" id="{CFB0DA90-44EC-D609-33F0-FB400FBB449C}"/>
              </a:ext>
            </a:extLst>
          </p:cNvPr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FUTURE?</a:t>
            </a:r>
            <a:endParaRPr/>
          </a:p>
        </p:txBody>
      </p:sp>
      <p:sp>
        <p:nvSpPr>
          <p:cNvPr id="221" name="Google Shape;221;p12">
            <a:extLst>
              <a:ext uri="{FF2B5EF4-FFF2-40B4-BE49-F238E27FC236}">
                <a16:creationId xmlns:a16="http://schemas.microsoft.com/office/drawing/2014/main" id="{D8D3147B-473C-90A2-EB93-169351D5A1EB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lvl="0"/>
            <a:r>
              <a:rPr lang="en-GB" sz="3200" b="1"/>
              <a:t>Do you enjoy building computational graphs?</a:t>
            </a:r>
          </a:p>
          <a:p>
            <a:pPr lvl="0"/>
            <a:endParaRPr lang="en-GB" sz="3200" b="1"/>
          </a:p>
        </p:txBody>
      </p:sp>
      <p:sp>
        <p:nvSpPr>
          <p:cNvPr id="222" name="Google Shape;222;p12">
            <a:extLst>
              <a:ext uri="{FF2B5EF4-FFF2-40B4-BE49-F238E27FC236}">
                <a16:creationId xmlns:a16="http://schemas.microsoft.com/office/drawing/2014/main" id="{7632D826-65E2-1989-82DA-D6A4195C001F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B7E02-924D-F697-1221-87056986BC41}"/>
              </a:ext>
            </a:extLst>
          </p:cNvPr>
          <p:cNvSpPr txBox="1"/>
          <p:nvPr/>
        </p:nvSpPr>
        <p:spPr>
          <a:xfrm>
            <a:off x="229276" y="1761068"/>
            <a:ext cx="5009357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PL" sz="2000"/>
              <a:t>Idea for a thesis: 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PL" sz="1800"/>
              <a:t>Auto generation of pandera validation rules based on the analysis of the graph.</a:t>
            </a:r>
          </a:p>
          <a:p>
            <a:pPr fontAlgn="ctr"/>
            <a:endParaRPr lang="en-PL" sz="1800"/>
          </a:p>
          <a:p>
            <a:pPr marL="457200" indent="-457200" fontAlgn="ctr">
              <a:buFont typeface="Arial" panose="020B0604020202020204" pitchFamily="34" charset="0"/>
              <a:buChar char="•"/>
            </a:pPr>
            <a:endParaRPr lang="en-PL" sz="2800"/>
          </a:p>
          <a:p>
            <a:pPr marL="457200" indent="-457200" fontAlgn="ctr">
              <a:buFont typeface="Arial" panose="020B0604020202020204" pitchFamily="34" charset="0"/>
              <a:buChar char="•"/>
            </a:pPr>
            <a:endParaRPr lang="en-PL" sz="2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66AC9-3D15-6623-C0D3-B5A25133C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23" y="2980697"/>
            <a:ext cx="4627065" cy="3796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73AC94-C8FF-CE3D-1704-BC4506BCF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047" y="2012032"/>
            <a:ext cx="6163677" cy="342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4967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97F28E3C-E0A1-3AA4-377D-1B963F4DE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>
            <a:extLst>
              <a:ext uri="{FF2B5EF4-FFF2-40B4-BE49-F238E27FC236}">
                <a16:creationId xmlns:a16="http://schemas.microsoft.com/office/drawing/2014/main" id="{27755F3D-4265-0460-F8A5-0B5F3A8FBC45}"/>
              </a:ext>
            </a:extLst>
          </p:cNvPr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CLOSING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FEE30A-A1A4-B3E3-B775-7655538D4519}"/>
              </a:ext>
            </a:extLst>
          </p:cNvPr>
          <p:cNvSpPr txBox="1"/>
          <p:nvPr/>
        </p:nvSpPr>
        <p:spPr>
          <a:xfrm>
            <a:off x="738508" y="2858739"/>
            <a:ext cx="7373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4400"/>
              <a:t>Thank you for your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5E7135-D21C-00F0-9FBF-461CD6F6D251}"/>
                  </a:ext>
                </a:extLst>
              </p:cNvPr>
              <p:cNvSpPr txBox="1"/>
              <p:nvPr/>
            </p:nvSpPr>
            <p:spPr>
              <a:xfrm>
                <a:off x="3918856" y="2525025"/>
                <a:ext cx="8694057" cy="1436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PL" sz="3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en-PL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PL" sz="3600" i="1">
                                    <a:latin typeface="Cambria Math" panose="02040503050406030204" pitchFamily="18" charset="0"/>
                                  </a:rPr>
                                  <m:t>𝑠𝑜𝑓𝑡𝑚𝑎𝑥</m:t>
                                </m:r>
                                <m:d>
                                  <m:dPr>
                                    <m:ctrlPr>
                                      <a:rPr lang="en-PL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L" sz="36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n-PL" sz="3600" i="0">
                                        <a:latin typeface="Cambria Math" panose="02040503050406030204" pitchFamily="18" charset="0"/>
                                      </a:rPr>
                                      <m:t>@</m:t>
                                    </m:r>
                                    <m:sSup>
                                      <m:sSupPr>
                                        <m:ctrlPr>
                                          <a:rPr lang="en-PL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PL" sz="3600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p>
                                        <m:r>
                                          <a:rPr lang="en-PL" sz="36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d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PL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d>
                                      <m:dPr>
                                        <m:ctrlPr>
                                          <a:rPr lang="en-PL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PL" sz="3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PL" sz="3600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PL" sz="36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rad>
                              </m:den>
                            </m:f>
                            <m:r>
                              <a:rPr lang="en-PL" sz="3600" i="0">
                                <a:latin typeface="Cambria Math" panose="02040503050406030204" pitchFamily="18" charset="0"/>
                              </a:rPr>
                              <m:t>@</m:t>
                            </m:r>
                            <m:r>
                              <a:rPr lang="en-PL" sz="3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mr>
                      </m:m>
                    </m:oMath>
                  </m:oMathPara>
                </a14:m>
                <a:endParaRPr lang="en-PL" sz="36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5E7135-D21C-00F0-9FBF-461CD6F6D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56" y="2525025"/>
                <a:ext cx="8694057" cy="1436868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89938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56639B68-FEE6-472D-840F-5F9CAECE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>
            <a:extLst>
              <a:ext uri="{FF2B5EF4-FFF2-40B4-BE49-F238E27FC236}">
                <a16:creationId xmlns:a16="http://schemas.microsoft.com/office/drawing/2014/main" id="{9B6FB6EC-7DEB-2583-3471-84A901FCCEAF}"/>
              </a:ext>
            </a:extLst>
          </p:cNvPr>
          <p:cNvSpPr txBox="1"/>
          <p:nvPr/>
        </p:nvSpPr>
        <p:spPr>
          <a:xfrm>
            <a:off x="658368" y="3200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CA094"/>
                </a:solidFill>
                <a:latin typeface="Arial"/>
                <a:ea typeface="Arial"/>
                <a:cs typeface="Arial"/>
                <a:sym typeface="Arial"/>
              </a:rPr>
              <a:t>CLOSING</a:t>
            </a:r>
            <a:endParaRPr/>
          </a:p>
        </p:txBody>
      </p:sp>
      <p:sp>
        <p:nvSpPr>
          <p:cNvPr id="121" name="Google Shape;121;p2">
            <a:extLst>
              <a:ext uri="{FF2B5EF4-FFF2-40B4-BE49-F238E27FC236}">
                <a16:creationId xmlns:a16="http://schemas.microsoft.com/office/drawing/2014/main" id="{2BA98A69-E134-DF33-C3F9-0F1753255DE4}"/>
              </a:ext>
            </a:extLst>
          </p:cNvPr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1B2430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endParaRPr/>
          </a:p>
        </p:txBody>
      </p:sp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C7E85F81-22E1-3FE4-9E53-4CA8D1EAC389}"/>
              </a:ext>
            </a:extLst>
          </p:cNvPr>
          <p:cNvSpPr/>
          <p:nvPr/>
        </p:nvSpPr>
        <p:spPr>
          <a:xfrm>
            <a:off x="658368" y="1399032"/>
            <a:ext cx="914400" cy="50292"/>
          </a:xfrm>
          <a:prstGeom prst="rect">
            <a:avLst/>
          </a:prstGeom>
          <a:solidFill>
            <a:srgbClr val="F485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raphic 1" descr="QR code linking to tinyurl.com/mimuw-dnn-feedback">
            <a:extLst>
              <a:ext uri="{FF2B5EF4-FFF2-40B4-BE49-F238E27FC236}">
                <a16:creationId xmlns:a16="http://schemas.microsoft.com/office/drawing/2014/main" id="{794D2BD6-81B3-16E7-FCAF-2211819569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909273"/>
            <a:ext cx="4102100" cy="4102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EDE9E2-1C9D-A820-AA84-F1C14A1D489D}"/>
              </a:ext>
            </a:extLst>
          </p:cNvPr>
          <p:cNvSpPr txBox="1"/>
          <p:nvPr/>
        </p:nvSpPr>
        <p:spPr>
          <a:xfrm>
            <a:off x="4927745" y="1909273"/>
            <a:ext cx="7373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3200"/>
              <a:t>Your Feedback is always welcome!!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7DA8E-BE87-F181-359C-6B096CC4B852}"/>
              </a:ext>
            </a:extLst>
          </p:cNvPr>
          <p:cNvSpPr txBox="1"/>
          <p:nvPr/>
        </p:nvSpPr>
        <p:spPr>
          <a:xfrm>
            <a:off x="5317889" y="3429000"/>
            <a:ext cx="6096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buNone/>
            </a:pPr>
            <a:r>
              <a:rPr lang="en-PL" sz="2800" b="0" i="0" u="none" strike="noStrike">
                <a:solidFill>
                  <a:srgbClr val="000000"/>
                </a:solidFill>
                <a:effectLst/>
                <a:latin typeface="Arial"/>
                <a:hlinkClick r:id="rId4"/>
              </a:rPr>
              <a:t>tinyurl.com/mimuw-dnn-feedback</a:t>
            </a:r>
            <a:endParaRPr lang="en-PL" sz="2800" b="0" i="0">
              <a:solidFill>
                <a:srgbClr val="000000"/>
              </a:solidFill>
              <a:effectLst/>
              <a:latin typeface="Arial"/>
            </a:endParaRPr>
          </a:p>
          <a:p>
            <a:pPr marL="0" marR="0" indent="0" algn="l" fontAlgn="base">
              <a:buNone/>
            </a:pPr>
            <a:endParaRPr lang="en-PL" sz="2000" b="0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/>
            </a:endParaRPr>
          </a:p>
          <a:p>
            <a:pPr marL="0" marR="0" indent="0" algn="l" fontAlgn="base">
              <a:buNone/>
            </a:pPr>
            <a:r>
              <a:rPr lang="en-PL" sz="20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/>
              </a:rPr>
              <a:t>Anonymous, no login, three questions</a:t>
            </a:r>
            <a:r>
              <a:rPr lang="en-PL" sz="11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/>
              </a:rPr>
              <a:t>.</a:t>
            </a:r>
            <a:endParaRPr lang="en-PL" sz="1100" b="0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995854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1926</Words>
  <Application>Microsoft Macintosh PowerPoint</Application>
  <PresentationFormat>Widescreen</PresentationFormat>
  <Paragraphs>315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 Math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adendek</cp:lastModifiedBy>
  <cp:revision>39</cp:revision>
  <dcterms:created xsi:type="dcterms:W3CDTF">2013-01-27T09:14:16Z</dcterms:created>
  <dcterms:modified xsi:type="dcterms:W3CDTF">2026-10-14T09:14:36Z</dcterms:modified>
</cp:coreProperties>
</file>